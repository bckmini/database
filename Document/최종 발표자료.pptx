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71" r:id="rId4"/>
    <p:sldId id="259" r:id="rId5"/>
    <p:sldId id="258" r:id="rId6"/>
    <p:sldId id="264" r:id="rId7"/>
    <p:sldId id="265" r:id="rId8"/>
    <p:sldId id="263" r:id="rId9"/>
    <p:sldId id="272" r:id="rId10"/>
    <p:sldId id="273" r:id="rId11"/>
    <p:sldId id="274" r:id="rId12"/>
    <p:sldId id="277" r:id="rId13"/>
    <p:sldId id="278" r:id="rId14"/>
    <p:sldId id="287" r:id="rId15"/>
    <p:sldId id="260" r:id="rId16"/>
    <p:sldId id="267" r:id="rId17"/>
    <p:sldId id="269" r:id="rId18"/>
    <p:sldId id="279" r:id="rId19"/>
    <p:sldId id="268" r:id="rId20"/>
    <p:sldId id="281" r:id="rId21"/>
    <p:sldId id="280" r:id="rId22"/>
    <p:sldId id="282" r:id="rId23"/>
    <p:sldId id="283" r:id="rId24"/>
    <p:sldId id="285" r:id="rId25"/>
    <p:sldId id="286" r:id="rId26"/>
    <p:sldId id="261" r:id="rId27"/>
    <p:sldId id="262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617" autoAdjust="0"/>
  </p:normalViewPr>
  <p:slideViewPr>
    <p:cSldViewPr snapToGrid="0">
      <p:cViewPr varScale="1">
        <p:scale>
          <a:sx n="83" d="100"/>
          <a:sy n="83" d="100"/>
        </p:scale>
        <p:origin x="9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C063D-4CBA-443F-BE3C-2F5CB8593271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E0D62-E8CE-4D77-98AB-AB9284CFD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839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E0D62-E8CE-4D77-98AB-AB9284CFD14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759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E0D62-E8CE-4D77-98AB-AB9284CFD14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911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464EF-4043-484D-9BEF-E312985BC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FC1A74-CE44-40C1-8E52-0EF438C74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F5E5B2-FCA1-4C58-9721-80987539F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BE8F79-6B15-4DE7-8715-1D121656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427123-95CF-497E-820C-85EF1929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801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56504-E2DA-422A-A8EE-FFA65158C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09DD0B-17F9-4984-8C66-8889DB93A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C02FE-2DE5-48DF-BE7E-6496CB3A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A49ADB-1188-415A-97CA-897E8659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D1B500-EAA3-4C16-BD18-6D5BE3FB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3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FFA4D-AF65-4E49-B167-D6CB3234B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86135A-9CB1-4BFB-A45E-1441189E7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138FE2-5131-4B41-971E-9FB06FA88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6D4C90-739F-42BF-A313-08852CA4E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D85390-1D6C-42B1-BE65-721B8CAA9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24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AC2C79-9684-4EC5-9FAD-161B37128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3F9FC3-8DB8-4F18-9EEA-9CF798665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B6CEB6-351C-4213-AB2F-DAD16F58C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89DB15-F43A-46BF-9C24-303504517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4E20F8-1E71-4DDB-B4B0-1EA3F3D8B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8701D9-9BE2-410A-AA92-30A2C56A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785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DA8CA-0BD3-46E6-94B9-83EABFB6A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0E8E83-1CF5-43D9-A899-BCEC4EA88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48B151-B907-4F55-9FF4-5F6010228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7E04F6-B2E0-4417-B914-E408E8FB5D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1B5011-D9E2-43CA-96BB-5A544CF10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5E997E-FDD5-4FB4-80CB-32EECD787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F94F1E-14C2-4453-8BFB-B53A585D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8F5B65-1364-4F6B-8A5F-E2836E432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704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25092-090F-41B6-89C5-1FD2F3C3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C0F78B-F5C2-4465-A6BE-D72F7FB8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5F705C-4B3B-437E-AA5B-CC37D586B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5BCFE8-D721-48F8-8D83-EAB8C3BB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58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9EAC6DD-BC83-4FCA-BAB0-D3B01066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E986B3C-7F00-4C32-8D45-731399EDC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5D81D2-EE01-40BD-980E-8FA49A5C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489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666136-3E14-4D8F-AE61-87846815F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A46130-AA69-4789-AD41-98792F934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86807C-D2E0-4C49-AB88-A6E5C5635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705058-A1E8-49A6-AE10-2760992F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669275-D961-491A-BEF4-CC5546B8E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BEA7CD-3643-4BD7-B994-57ACEB74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891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695CFB-A563-4EE8-A5D2-D789DD3D1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5BC90D-3081-4543-8175-1B52AC8F9C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C554F6-02B8-450E-9824-AD876FFDA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1A18C0-E92E-46FE-94C8-A2370B345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653E65-3F3E-41A9-B614-E565A0CE5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6EB086-904A-47D6-A0D7-F156C7FC6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78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8BFA2-3EEA-4577-8536-DAF809329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712E68-772E-4195-9297-B7AC83EBC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213468-CAB1-4EC5-B85B-98E71C6DA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A18D28-5DCD-4082-AFE4-A7674F50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99E3C4-5AF2-414D-B4A8-19B1EF30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4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5CB53A-6F65-486D-B12A-C790B8670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D9E190-8E13-40DE-AB5C-CF07CF27D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7D6645-D9C2-43C6-ADBF-2761288CF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1F77F0-526E-4745-B3F1-7392FC0C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34270D-4512-444E-BE80-6794892E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670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A3216AF-CD09-4FDE-BCE8-AEB925CD5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F0D27-E472-4DA4-8DCC-BBFEA704D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66A40F-68D0-420C-9D2F-FF01DF6E5A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78761C-A627-4844-AECB-1E100872C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22A488-19A1-49E1-953C-0076F46B7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12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08291D2-9383-E45B-F8E6-986A69CE7094}"/>
              </a:ext>
            </a:extLst>
          </p:cNvPr>
          <p:cNvGrpSpPr/>
          <p:nvPr/>
        </p:nvGrpSpPr>
        <p:grpSpPr>
          <a:xfrm>
            <a:off x="1784958" y="1749860"/>
            <a:ext cx="3457182" cy="1624906"/>
            <a:chOff x="1784958" y="1749860"/>
            <a:chExt cx="3457182" cy="162490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C18A63E-F725-47BF-96FB-184AF9FB7BB8}"/>
                </a:ext>
              </a:extLst>
            </p:cNvPr>
            <p:cNvSpPr txBox="1"/>
            <p:nvPr/>
          </p:nvSpPr>
          <p:spPr>
            <a:xfrm>
              <a:off x="1784958" y="1749860"/>
              <a:ext cx="3457182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500" b="1" dirty="0">
                  <a:latin typeface="+mn-ea"/>
                  <a:cs typeface="Cavolini" panose="020B0502040204020203" pitchFamily="66" charset="0"/>
                </a:rPr>
                <a:t>IBK CENTER</a:t>
              </a:r>
              <a:endParaRPr lang="ko-KR" altLang="en-US" sz="4500" b="1" dirty="0">
                <a:latin typeface="+mn-ea"/>
                <a:cs typeface="Cavolini" panose="020B0502040204020203" pitchFamily="66" charset="0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AAD9E07D-2476-42A1-919F-6C7941904CFB}"/>
                </a:ext>
              </a:extLst>
            </p:cNvPr>
            <p:cNvCxnSpPr/>
            <p:nvPr/>
          </p:nvCxnSpPr>
          <p:spPr>
            <a:xfrm>
              <a:off x="1828800" y="2530000"/>
              <a:ext cx="336950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133FAD-7140-4C5D-B42E-6BF1282B28B1}"/>
                </a:ext>
              </a:extLst>
            </p:cNvPr>
            <p:cNvSpPr txBox="1"/>
            <p:nvPr/>
          </p:nvSpPr>
          <p:spPr>
            <a:xfrm>
              <a:off x="2128932" y="2666880"/>
              <a:ext cx="276923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000" dirty="0">
                  <a:latin typeface="+mn-ea"/>
                </a:rPr>
                <a:t>의료 종합 관리 서비스</a:t>
              </a:r>
              <a:endParaRPr lang="en-US" altLang="ko-KR" sz="2000" dirty="0">
                <a:latin typeface="+mn-ea"/>
              </a:endParaRPr>
            </a:p>
            <a:p>
              <a:pPr algn="just"/>
              <a:endParaRPr lang="ko-KR" altLang="en-US" sz="2000" dirty="0">
                <a:latin typeface="+mn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68CA9F0-04D8-4D1F-A6CD-36FDD9D9DA19}"/>
              </a:ext>
            </a:extLst>
          </p:cNvPr>
          <p:cNvSpPr txBox="1"/>
          <p:nvPr/>
        </p:nvSpPr>
        <p:spPr>
          <a:xfrm>
            <a:off x="7234427" y="6499991"/>
            <a:ext cx="495757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300" dirty="0">
                <a:latin typeface="+mn-ea"/>
              </a:rPr>
              <a:t>202121054 </a:t>
            </a:r>
            <a:r>
              <a:rPr lang="ko-KR" altLang="en-US" sz="1300" dirty="0">
                <a:latin typeface="+mn-ea"/>
              </a:rPr>
              <a:t>임회연  </a:t>
            </a:r>
            <a:r>
              <a:rPr lang="en-US" altLang="ko-KR" sz="1300" dirty="0">
                <a:latin typeface="+mn-ea"/>
              </a:rPr>
              <a:t>|  202020917 </a:t>
            </a:r>
            <a:r>
              <a:rPr lang="ko-KR" altLang="en-US" sz="1300" dirty="0" err="1">
                <a:latin typeface="+mn-ea"/>
              </a:rPr>
              <a:t>변선우</a:t>
            </a:r>
            <a:r>
              <a:rPr lang="en-US" altLang="ko-KR" sz="1300" dirty="0">
                <a:latin typeface="+mn-ea"/>
              </a:rPr>
              <a:t>  |  202020827 </a:t>
            </a:r>
            <a:r>
              <a:rPr lang="ko-KR" altLang="en-US" sz="1300" dirty="0">
                <a:latin typeface="+mn-ea"/>
              </a:rPr>
              <a:t>김경민</a:t>
            </a:r>
            <a:endParaRPr lang="en-US" altLang="ko-KR" sz="1300" dirty="0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4996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06718B-938C-46BB-B117-1BBA3752CBA1}"/>
              </a:ext>
            </a:extLst>
          </p:cNvPr>
          <p:cNvSpPr txBox="1"/>
          <p:nvPr/>
        </p:nvSpPr>
        <p:spPr>
          <a:xfrm>
            <a:off x="576197" y="842119"/>
            <a:ext cx="1710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+mn-ea"/>
                <a:cs typeface="Cavolini" panose="03000502040302020204" pitchFamily="66" charset="0"/>
              </a:rPr>
              <a:t>OUTLINE</a:t>
            </a:r>
            <a:endParaRPr lang="ko-KR" altLang="en-US" sz="2800" b="1" dirty="0"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3680236-C389-43A6-8590-642677318D46}"/>
              </a:ext>
            </a:extLst>
          </p:cNvPr>
          <p:cNvCxnSpPr>
            <a:cxnSpLocks/>
          </p:cNvCxnSpPr>
          <p:nvPr/>
        </p:nvCxnSpPr>
        <p:spPr>
          <a:xfrm>
            <a:off x="676405" y="1365339"/>
            <a:ext cx="14571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23FA988A-B11A-6B20-6CF8-DC2E46BAC488}"/>
              </a:ext>
            </a:extLst>
          </p:cNvPr>
          <p:cNvGrpSpPr/>
          <p:nvPr/>
        </p:nvGrpSpPr>
        <p:grpSpPr>
          <a:xfrm>
            <a:off x="1070241" y="2655573"/>
            <a:ext cx="949299" cy="1227459"/>
            <a:chOff x="1070241" y="2655573"/>
            <a:chExt cx="949299" cy="1227459"/>
          </a:xfrm>
        </p:grpSpPr>
        <p:pic>
          <p:nvPicPr>
            <p:cNvPr id="14" name="그래픽 13" descr="머리와 톱니바퀴">
              <a:extLst>
                <a:ext uri="{FF2B5EF4-FFF2-40B4-BE49-F238E27FC236}">
                  <a16:creationId xmlns:a16="http://schemas.microsoft.com/office/drawing/2014/main" id="{71E8AB8D-D3D5-45AD-B8A8-0850EC4BB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8489" y="3179068"/>
              <a:ext cx="703964" cy="70396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CEB1CD-65C1-4031-A395-586F4531A42F}"/>
                </a:ext>
              </a:extLst>
            </p:cNvPr>
            <p:cNvSpPr txBox="1"/>
            <p:nvPr/>
          </p:nvSpPr>
          <p:spPr>
            <a:xfrm>
              <a:off x="1070241" y="2655573"/>
              <a:ext cx="9492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  <a:cs typeface="Cavolini" panose="03000502040302020204" pitchFamily="66" charset="0"/>
                </a:rPr>
                <a:t>Subject</a:t>
              </a:r>
              <a:endParaRPr lang="ko-KR" altLang="en-US" dirty="0">
                <a:latin typeface="+mn-ea"/>
                <a:cs typeface="Cavolini" panose="03000502040302020204" pitchFamily="66" charset="0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10AB9889-9264-719F-C604-803EE74F95D9}"/>
              </a:ext>
            </a:extLst>
          </p:cNvPr>
          <p:cNvGrpSpPr/>
          <p:nvPr/>
        </p:nvGrpSpPr>
        <p:grpSpPr>
          <a:xfrm>
            <a:off x="3114724" y="2655573"/>
            <a:ext cx="932691" cy="1227459"/>
            <a:chOff x="3114724" y="2655573"/>
            <a:chExt cx="932691" cy="1227459"/>
          </a:xfrm>
        </p:grpSpPr>
        <p:pic>
          <p:nvPicPr>
            <p:cNvPr id="17" name="그래픽 16" descr="톱니바퀴">
              <a:extLst>
                <a:ext uri="{FF2B5EF4-FFF2-40B4-BE49-F238E27FC236}">
                  <a16:creationId xmlns:a16="http://schemas.microsoft.com/office/drawing/2014/main" id="{195DC929-FDF5-4A79-8CB5-F9D4FFA85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70397" y="3179068"/>
              <a:ext cx="703964" cy="70396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286F196-A9A1-4039-9629-4DA6E3E684F0}"/>
                </a:ext>
              </a:extLst>
            </p:cNvPr>
            <p:cNvSpPr txBox="1"/>
            <p:nvPr/>
          </p:nvSpPr>
          <p:spPr>
            <a:xfrm>
              <a:off x="3114724" y="2655573"/>
              <a:ext cx="932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  <a:cs typeface="Cavolini" panose="03000502040302020204" pitchFamily="66" charset="0"/>
                </a:rPr>
                <a:t>Reason</a:t>
              </a:r>
              <a:endParaRPr lang="ko-KR" altLang="en-US" dirty="0">
                <a:latin typeface="+mn-ea"/>
                <a:cs typeface="Cavolini" panose="03000502040302020204" pitchFamily="66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02F52F11-343C-A103-9B87-9F1DC9AF5977}"/>
              </a:ext>
            </a:extLst>
          </p:cNvPr>
          <p:cNvGrpSpPr/>
          <p:nvPr/>
        </p:nvGrpSpPr>
        <p:grpSpPr>
          <a:xfrm>
            <a:off x="5294482" y="2655573"/>
            <a:ext cx="724840" cy="1227459"/>
            <a:chOff x="5294482" y="2655573"/>
            <a:chExt cx="724840" cy="1227459"/>
          </a:xfrm>
        </p:grpSpPr>
        <p:pic>
          <p:nvPicPr>
            <p:cNvPr id="6" name="그래픽 5" descr="돋보기">
              <a:extLst>
                <a:ext uri="{FF2B5EF4-FFF2-40B4-BE49-F238E27FC236}">
                  <a16:creationId xmlns:a16="http://schemas.microsoft.com/office/drawing/2014/main" id="{79F3D855-62D3-4207-864E-855F5402A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315358" y="3179068"/>
              <a:ext cx="703964" cy="70396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1CED1E7-7152-44A0-B302-374E1B1CEA03}"/>
                </a:ext>
              </a:extLst>
            </p:cNvPr>
            <p:cNvSpPr txBox="1"/>
            <p:nvPr/>
          </p:nvSpPr>
          <p:spPr>
            <a:xfrm>
              <a:off x="5294482" y="2655573"/>
              <a:ext cx="657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  <a:cs typeface="Cavolini" panose="03000502040302020204" pitchFamily="66" charset="0"/>
                </a:rPr>
                <a:t>Goal</a:t>
              </a:r>
              <a:endParaRPr lang="ko-KR" altLang="en-US" dirty="0">
                <a:latin typeface="+mn-ea"/>
                <a:cs typeface="Cavolini" panose="03000502040302020204" pitchFamily="66" charset="0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83CB0D6-2449-4671-B083-8DCE90577E3B}"/>
              </a:ext>
            </a:extLst>
          </p:cNvPr>
          <p:cNvSpPr txBox="1"/>
          <p:nvPr/>
        </p:nvSpPr>
        <p:spPr>
          <a:xfrm>
            <a:off x="676405" y="4302374"/>
            <a:ext cx="64484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altLang="ko-KR" sz="1500" dirty="0">
              <a:latin typeface="+mn-ea"/>
            </a:endParaRPr>
          </a:p>
          <a:p>
            <a:pPr algn="just"/>
            <a:r>
              <a:rPr lang="ko-KR" altLang="en-US" sz="1500" dirty="0">
                <a:latin typeface="+mn-ea"/>
              </a:rPr>
              <a:t>의료 시스템 통합 서비스 </a:t>
            </a:r>
            <a:r>
              <a:rPr lang="en-US" altLang="ko-KR" sz="1500" dirty="0">
                <a:latin typeface="+mn-ea"/>
              </a:rPr>
              <a:t>: </a:t>
            </a:r>
          </a:p>
          <a:p>
            <a:pPr algn="just"/>
            <a:endParaRPr lang="en-US" altLang="ko-KR" sz="1500" dirty="0">
              <a:latin typeface="+mn-ea"/>
            </a:endParaRPr>
          </a:p>
          <a:p>
            <a:pPr algn="just"/>
            <a:r>
              <a:rPr lang="ko-KR" altLang="en-US" sz="1500" dirty="0">
                <a:latin typeface="+mn-ea"/>
              </a:rPr>
              <a:t>대기 시간 감소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처방전 업로드 조회 가능함으로써 종이의 사용 감소</a:t>
            </a:r>
            <a:endParaRPr lang="en-US" altLang="ko-KR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118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06718B-938C-46BB-B117-1BBA3752CBA1}"/>
              </a:ext>
            </a:extLst>
          </p:cNvPr>
          <p:cNvSpPr txBox="1"/>
          <p:nvPr/>
        </p:nvSpPr>
        <p:spPr>
          <a:xfrm>
            <a:off x="982450" y="842119"/>
            <a:ext cx="845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+mn-ea"/>
                <a:cs typeface="Cavolini" panose="03000502040302020204" pitchFamily="66" charset="0"/>
              </a:rPr>
              <a:t>USE</a:t>
            </a:r>
            <a:endParaRPr lang="ko-KR" altLang="en-US" sz="2800" b="1" dirty="0"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3680236-C389-43A6-8590-642677318D46}"/>
              </a:ext>
            </a:extLst>
          </p:cNvPr>
          <p:cNvCxnSpPr>
            <a:cxnSpLocks/>
          </p:cNvCxnSpPr>
          <p:nvPr/>
        </p:nvCxnSpPr>
        <p:spPr>
          <a:xfrm>
            <a:off x="676405" y="1365339"/>
            <a:ext cx="14571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9CEB1CD-65C1-4031-A395-586F4531A42F}"/>
              </a:ext>
            </a:extLst>
          </p:cNvPr>
          <p:cNvSpPr txBox="1"/>
          <p:nvPr/>
        </p:nvSpPr>
        <p:spPr>
          <a:xfrm>
            <a:off x="3343334" y="2030389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  <a:cs typeface="Cavolini" panose="03000502040302020204" pitchFamily="66" charset="0"/>
              </a:rPr>
              <a:t>Language</a:t>
            </a:r>
            <a:endParaRPr lang="ko-KR" altLang="en-US" b="1" dirty="0">
              <a:latin typeface="+mn-ea"/>
              <a:cs typeface="Cavolini" panose="03000502040302020204" pitchFamily="66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86F196-A9A1-4039-9629-4DA6E3E684F0}"/>
              </a:ext>
            </a:extLst>
          </p:cNvPr>
          <p:cNvSpPr txBox="1"/>
          <p:nvPr/>
        </p:nvSpPr>
        <p:spPr>
          <a:xfrm>
            <a:off x="7547436" y="3866843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  <a:cs typeface="Cavolini" panose="03000502040302020204" pitchFamily="66" charset="0"/>
              </a:rPr>
              <a:t>Server</a:t>
            </a:r>
            <a:endParaRPr lang="ko-KR" altLang="en-US" b="1" dirty="0">
              <a:latin typeface="+mn-ea"/>
              <a:cs typeface="Cavolini" panose="03000502040302020204" pitchFamily="66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CED1E7-7152-44A0-B302-374E1B1CEA03}"/>
              </a:ext>
            </a:extLst>
          </p:cNvPr>
          <p:cNvSpPr txBox="1"/>
          <p:nvPr/>
        </p:nvSpPr>
        <p:spPr>
          <a:xfrm>
            <a:off x="6953507" y="1487382"/>
            <a:ext cx="2230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  <a:cs typeface="Cavolini" panose="03000502040302020204" pitchFamily="66" charset="0"/>
              </a:rPr>
              <a:t>Data Management</a:t>
            </a:r>
            <a:endParaRPr lang="ko-KR" altLang="en-US" b="1" dirty="0">
              <a:latin typeface="+mn-ea"/>
              <a:cs typeface="Cavolini" panose="03000502040302020204" pitchFamily="66" charset="0"/>
            </a:endParaRPr>
          </a:p>
        </p:txBody>
      </p:sp>
      <p:pic>
        <p:nvPicPr>
          <p:cNvPr id="1026" name="Picture 2" descr="IT 기본 지식] 웹 개발의 기본! HTML,CSS,Javascript | 인천일보아카데미">
            <a:extLst>
              <a:ext uri="{FF2B5EF4-FFF2-40B4-BE49-F238E27FC236}">
                <a16:creationId xmlns:a16="http://schemas.microsoft.com/office/drawing/2014/main" id="{46082365-EFD7-F6C7-D4A3-D721D4DE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975" y="2583882"/>
            <a:ext cx="2860895" cy="1586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HP - 위키백과, 우리 모두의 백과사전">
            <a:extLst>
              <a:ext uri="{FF2B5EF4-FFF2-40B4-BE49-F238E27FC236}">
                <a16:creationId xmlns:a16="http://schemas.microsoft.com/office/drawing/2014/main" id="{68891D3A-3B04-6619-C1EC-E0786938C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481" y="4059013"/>
            <a:ext cx="1737343" cy="938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XAMPP - Wikipedia">
            <a:extLst>
              <a:ext uri="{FF2B5EF4-FFF2-40B4-BE49-F238E27FC236}">
                <a16:creationId xmlns:a16="http://schemas.microsoft.com/office/drawing/2014/main" id="{DB95E23F-86B1-7005-849B-47124EFF5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316" y="4420336"/>
            <a:ext cx="1375634" cy="139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ySQL 강좌 : 제 1강 - 소개 및 설치 - YUN DAE HEE">
            <a:extLst>
              <a:ext uri="{FF2B5EF4-FFF2-40B4-BE49-F238E27FC236}">
                <a16:creationId xmlns:a16="http://schemas.microsoft.com/office/drawing/2014/main" id="{00690B18-04B0-4C68-46CC-2E363A0F9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931" y="1837702"/>
            <a:ext cx="2053250" cy="136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12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BDD85EAC-EB13-44A8-B4BB-84E024987CD0}"/>
              </a:ext>
            </a:extLst>
          </p:cNvPr>
          <p:cNvSpPr/>
          <p:nvPr/>
        </p:nvSpPr>
        <p:spPr>
          <a:xfrm>
            <a:off x="1574109" y="2918543"/>
            <a:ext cx="2104372" cy="1653438"/>
          </a:xfrm>
          <a:prstGeom prst="homePlate">
            <a:avLst>
              <a:gd name="adj" fmla="val 2641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+mn-ea"/>
                <a:cs typeface="Cavolini" panose="03000502040302020204" pitchFamily="66" charset="0"/>
              </a:rPr>
              <a:t>병원</a:t>
            </a:r>
            <a:r>
              <a:rPr lang="en-US" altLang="ko-KR" sz="1600" b="1" dirty="0">
                <a:latin typeface="+mn-ea"/>
                <a:cs typeface="Cavolini" panose="03000502040302020204" pitchFamily="66" charset="0"/>
              </a:rPr>
              <a:t>/</a:t>
            </a:r>
            <a:r>
              <a:rPr lang="ko-KR" altLang="en-US" sz="1600" b="1" dirty="0">
                <a:latin typeface="+mn-ea"/>
                <a:cs typeface="Cavolini" panose="03000502040302020204" pitchFamily="66" charset="0"/>
              </a:rPr>
              <a:t>약국 찾기</a:t>
            </a:r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ABCA4113-3B60-4CF4-95D2-0D6ED5E942CE}"/>
              </a:ext>
            </a:extLst>
          </p:cNvPr>
          <p:cNvSpPr/>
          <p:nvPr/>
        </p:nvSpPr>
        <p:spPr>
          <a:xfrm>
            <a:off x="4588703" y="2918543"/>
            <a:ext cx="2104372" cy="1653438"/>
          </a:xfrm>
          <a:prstGeom prst="homePlate">
            <a:avLst>
              <a:gd name="adj" fmla="val 2641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+mn-ea"/>
                <a:cs typeface="Cavolini" panose="03000502040302020204" pitchFamily="66" charset="0"/>
              </a:rPr>
              <a:t>정보 조회</a:t>
            </a: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CB7EED72-8AFE-4E91-B440-37B0B32E3AA0}"/>
              </a:ext>
            </a:extLst>
          </p:cNvPr>
          <p:cNvSpPr/>
          <p:nvPr/>
        </p:nvSpPr>
        <p:spPr>
          <a:xfrm>
            <a:off x="7603297" y="2906017"/>
            <a:ext cx="2104372" cy="1653438"/>
          </a:xfrm>
          <a:prstGeom prst="homePlate">
            <a:avLst>
              <a:gd name="adj" fmla="val 2641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+mn-ea"/>
                <a:cs typeface="Cavolini" panose="03000502040302020204" pitchFamily="66" charset="0"/>
              </a:rPr>
              <a:t>방문 후기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54943B5-0C46-4CEE-A667-6623EA0B9E08}"/>
              </a:ext>
            </a:extLst>
          </p:cNvPr>
          <p:cNvCxnSpPr>
            <a:cxnSpLocks/>
          </p:cNvCxnSpPr>
          <p:nvPr/>
        </p:nvCxnSpPr>
        <p:spPr>
          <a:xfrm>
            <a:off x="2400826" y="4673242"/>
            <a:ext cx="0" cy="90084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19911EE-7ADE-4169-8AD3-B59C5BEFF513}"/>
              </a:ext>
            </a:extLst>
          </p:cNvPr>
          <p:cNvCxnSpPr>
            <a:cxnSpLocks/>
          </p:cNvCxnSpPr>
          <p:nvPr/>
        </p:nvCxnSpPr>
        <p:spPr>
          <a:xfrm>
            <a:off x="8400793" y="4673242"/>
            <a:ext cx="0" cy="90084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E4AA97B-324B-4521-A10C-0AF11F41E826}"/>
              </a:ext>
            </a:extLst>
          </p:cNvPr>
          <p:cNvCxnSpPr>
            <a:cxnSpLocks/>
          </p:cNvCxnSpPr>
          <p:nvPr/>
        </p:nvCxnSpPr>
        <p:spPr>
          <a:xfrm flipV="1">
            <a:off x="5513542" y="1941519"/>
            <a:ext cx="0" cy="80791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6E10D81-A314-4BD7-BC5E-7B477B3F8F9A}"/>
              </a:ext>
            </a:extLst>
          </p:cNvPr>
          <p:cNvSpPr/>
          <p:nvPr/>
        </p:nvSpPr>
        <p:spPr>
          <a:xfrm>
            <a:off x="647181" y="5882063"/>
            <a:ext cx="452606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100" b="1" dirty="0">
                <a:latin typeface="+mn-ea"/>
                <a:cs typeface="Cavolini" panose="03000502040302020204" pitchFamily="66" charset="0"/>
              </a:rPr>
              <a:t>: </a:t>
            </a:r>
            <a:r>
              <a:rPr lang="ko-KR" altLang="en-US" sz="1100" b="1" dirty="0">
                <a:latin typeface="+mn-ea"/>
                <a:cs typeface="Cavolini" panose="03000502040302020204" pitchFamily="66" charset="0"/>
              </a:rPr>
              <a:t>병원</a:t>
            </a:r>
            <a:r>
              <a:rPr lang="en-US" altLang="ko-KR" sz="1100" b="1" dirty="0">
                <a:latin typeface="+mn-ea"/>
                <a:cs typeface="Cavolini" panose="03000502040302020204" pitchFamily="66" charset="0"/>
              </a:rPr>
              <a:t>, </a:t>
            </a:r>
            <a:r>
              <a:rPr lang="ko-KR" altLang="en-US" sz="1100" b="1" dirty="0">
                <a:latin typeface="+mn-ea"/>
                <a:cs typeface="Cavolini" panose="03000502040302020204" pitchFamily="66" charset="0"/>
              </a:rPr>
              <a:t>약국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의 정보를 검색을 통해 지도에서 위치 확인과 전화번호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,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주소 등의 정보를 얻을 수 있다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.</a:t>
            </a:r>
            <a:endParaRPr lang="ko-KR" altLang="en-US" sz="1100" dirty="0">
              <a:latin typeface="+mn-ea"/>
              <a:cs typeface="Cavolini" panose="03000502040302020204" pitchFamily="66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D3184A-C6DE-4B97-934F-BE0134024BB4}"/>
              </a:ext>
            </a:extLst>
          </p:cNvPr>
          <p:cNvSpPr/>
          <p:nvPr/>
        </p:nvSpPr>
        <p:spPr>
          <a:xfrm>
            <a:off x="3048000" y="1033316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altLang="ko-KR" sz="1100" b="1" dirty="0">
                <a:latin typeface="+mn-ea"/>
                <a:cs typeface="Cavolini" panose="03000502040302020204" pitchFamily="66" charset="0"/>
              </a:rPr>
              <a:t>: </a:t>
            </a:r>
            <a:r>
              <a:rPr lang="ko-KR" altLang="en-US" sz="1100" b="1" dirty="0">
                <a:latin typeface="+mn-ea"/>
                <a:cs typeface="Cavolini" panose="03000502040302020204" pitchFamily="66" charset="0"/>
              </a:rPr>
              <a:t>정보 조회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페이지는 병원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/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약국으로 가입한 회원만 조회 가능하다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.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이 페이지에서는 환자의 </a:t>
            </a:r>
            <a:endParaRPr lang="en-US" altLang="ko-KR" sz="1100" dirty="0">
              <a:latin typeface="+mn-ea"/>
              <a:cs typeface="Cavolini" panose="03000502040302020204" pitchFamily="66" charset="0"/>
            </a:endParaRPr>
          </a:p>
          <a:p>
            <a:pPr algn="just"/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처방전을 업로드하고 다운로드 할 수 있다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.</a:t>
            </a:r>
            <a:endParaRPr lang="ko-KR" altLang="en-US" sz="1100" dirty="0">
              <a:latin typeface="+mn-ea"/>
              <a:cs typeface="Cavolini" panose="03000502040302020204" pitchFamily="66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756AC2-29A0-4CEA-9F4E-AC2F8E150D54}"/>
              </a:ext>
            </a:extLst>
          </p:cNvPr>
          <p:cNvSpPr/>
          <p:nvPr/>
        </p:nvSpPr>
        <p:spPr>
          <a:xfrm>
            <a:off x="5883055" y="5800051"/>
            <a:ext cx="478911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100" b="1" dirty="0">
                <a:latin typeface="+mn-ea"/>
                <a:cs typeface="Cavolini" panose="03000502040302020204" pitchFamily="66" charset="0"/>
              </a:rPr>
              <a:t>: </a:t>
            </a:r>
            <a:r>
              <a:rPr lang="ko-KR" altLang="en-US" sz="1100" b="1" dirty="0">
                <a:latin typeface="+mn-ea"/>
                <a:cs typeface="Cavolini" panose="03000502040302020204" pitchFamily="66" charset="0"/>
              </a:rPr>
              <a:t>방문 후기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페이지에서는 병원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,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약국을 방문한 사람들의 후기를 보거나 </a:t>
            </a:r>
            <a:endParaRPr lang="en-US" altLang="ko-KR" sz="1100" dirty="0">
              <a:latin typeface="+mn-ea"/>
              <a:cs typeface="Cavolini" panose="03000502040302020204" pitchFamily="66" charset="0"/>
            </a:endParaRPr>
          </a:p>
          <a:p>
            <a:pPr algn="just"/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작성할 수 있다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. </a:t>
            </a:r>
          </a:p>
          <a:p>
            <a:pPr algn="just"/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지도에서 클릭하면 우측에 클릭한 병원 또는 약국의 페이지가 나타난다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.</a:t>
            </a:r>
            <a:endParaRPr lang="ko-KR" altLang="en-US" sz="1100" dirty="0">
              <a:latin typeface="+mn-ea"/>
              <a:cs typeface="Cavolini" panose="030005020403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7E38D-8447-64D6-3127-06A13F235C6C}"/>
              </a:ext>
            </a:extLst>
          </p:cNvPr>
          <p:cNvSpPr txBox="1"/>
          <p:nvPr/>
        </p:nvSpPr>
        <p:spPr>
          <a:xfrm>
            <a:off x="576197" y="842119"/>
            <a:ext cx="165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+mn-ea"/>
                <a:cs typeface="Cavolini" panose="03000502040302020204" pitchFamily="66" charset="0"/>
              </a:rPr>
              <a:t>Function</a:t>
            </a:r>
            <a:endParaRPr lang="ko-KR" altLang="en-US" sz="2800" b="1" dirty="0"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C0CB4DC-E23C-C150-7728-E1F2F33A3F7D}"/>
              </a:ext>
            </a:extLst>
          </p:cNvPr>
          <p:cNvCxnSpPr>
            <a:cxnSpLocks/>
          </p:cNvCxnSpPr>
          <p:nvPr/>
        </p:nvCxnSpPr>
        <p:spPr>
          <a:xfrm>
            <a:off x="676405" y="1365339"/>
            <a:ext cx="14571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30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21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2" y="310015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5FBD9-DDB9-720D-B60B-8673FE778D45}"/>
              </a:ext>
            </a:extLst>
          </p:cNvPr>
          <p:cNvSpPr txBox="1"/>
          <p:nvPr/>
        </p:nvSpPr>
        <p:spPr>
          <a:xfrm>
            <a:off x="576197" y="842119"/>
            <a:ext cx="1693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+mn-ea"/>
                <a:cs typeface="Cavolini" panose="03000502040302020204" pitchFamily="66" charset="0"/>
              </a:rPr>
              <a:t>REQUIRE</a:t>
            </a:r>
            <a:endParaRPr lang="ko-KR" altLang="en-US" sz="2800" b="1" dirty="0"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0DB703F-C8E1-688D-DC79-78DC0C4B327B}"/>
              </a:ext>
            </a:extLst>
          </p:cNvPr>
          <p:cNvCxnSpPr>
            <a:cxnSpLocks/>
          </p:cNvCxnSpPr>
          <p:nvPr/>
        </p:nvCxnSpPr>
        <p:spPr>
          <a:xfrm>
            <a:off x="676405" y="1365339"/>
            <a:ext cx="14571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B18B06AF-1E1E-AC27-E162-57D327162618}"/>
              </a:ext>
            </a:extLst>
          </p:cNvPr>
          <p:cNvGrpSpPr/>
          <p:nvPr/>
        </p:nvGrpSpPr>
        <p:grpSpPr>
          <a:xfrm>
            <a:off x="928127" y="2242245"/>
            <a:ext cx="10140084" cy="3655621"/>
            <a:chOff x="834646" y="2016690"/>
            <a:chExt cx="10723125" cy="3883067"/>
          </a:xfrm>
        </p:grpSpPr>
        <p:sp>
          <p:nvSpPr>
            <p:cNvPr id="5" name="자유형 31">
              <a:extLst>
                <a:ext uri="{FF2B5EF4-FFF2-40B4-BE49-F238E27FC236}">
                  <a16:creationId xmlns:a16="http://schemas.microsoft.com/office/drawing/2014/main" id="{35E1BE9E-6AA7-51D9-7626-990BBF18D3C8}"/>
                </a:ext>
              </a:extLst>
            </p:cNvPr>
            <p:cNvSpPr/>
            <p:nvPr/>
          </p:nvSpPr>
          <p:spPr>
            <a:xfrm>
              <a:off x="834646" y="2016690"/>
              <a:ext cx="10723125" cy="3883067"/>
            </a:xfrm>
            <a:custGeom>
              <a:avLst/>
              <a:gdLst>
                <a:gd name="connsiteX0" fmla="*/ 4080149 w 10723125"/>
                <a:gd name="connsiteY0" fmla="*/ 0 h 3883067"/>
                <a:gd name="connsiteX1" fmla="*/ 6642976 w 10723125"/>
                <a:gd name="connsiteY1" fmla="*/ 0 h 3883067"/>
                <a:gd name="connsiteX2" fmla="*/ 6916254 w 10723125"/>
                <a:gd name="connsiteY2" fmla="*/ 546555 h 3883067"/>
                <a:gd name="connsiteX3" fmla="*/ 7189531 w 10723125"/>
                <a:gd name="connsiteY3" fmla="*/ 0 h 3883067"/>
                <a:gd name="connsiteX4" fmla="*/ 9752358 w 10723125"/>
                <a:gd name="connsiteY4" fmla="*/ 0 h 3883067"/>
                <a:gd name="connsiteX5" fmla="*/ 10723125 w 10723125"/>
                <a:gd name="connsiteY5" fmla="*/ 1941534 h 3883067"/>
                <a:gd name="connsiteX6" fmla="*/ 9752358 w 10723125"/>
                <a:gd name="connsiteY6" fmla="*/ 3883067 h 3883067"/>
                <a:gd name="connsiteX7" fmla="*/ 7189531 w 10723125"/>
                <a:gd name="connsiteY7" fmla="*/ 3883067 h 3883067"/>
                <a:gd name="connsiteX8" fmla="*/ 6916254 w 10723125"/>
                <a:gd name="connsiteY8" fmla="*/ 3336513 h 3883067"/>
                <a:gd name="connsiteX9" fmla="*/ 6642976 w 10723125"/>
                <a:gd name="connsiteY9" fmla="*/ 3883067 h 3883067"/>
                <a:gd name="connsiteX10" fmla="*/ 4080149 w 10723125"/>
                <a:gd name="connsiteY10" fmla="*/ 3883067 h 3883067"/>
                <a:gd name="connsiteX11" fmla="*/ 3806871 w 10723125"/>
                <a:gd name="connsiteY11" fmla="*/ 3336513 h 3883067"/>
                <a:gd name="connsiteX12" fmla="*/ 3533594 w 10723125"/>
                <a:gd name="connsiteY12" fmla="*/ 3883067 h 3883067"/>
                <a:gd name="connsiteX13" fmla="*/ 970767 w 10723125"/>
                <a:gd name="connsiteY13" fmla="*/ 3883067 h 3883067"/>
                <a:gd name="connsiteX14" fmla="*/ 0 w 10723125"/>
                <a:gd name="connsiteY14" fmla="*/ 1941534 h 3883067"/>
                <a:gd name="connsiteX15" fmla="*/ 970767 w 10723125"/>
                <a:gd name="connsiteY15" fmla="*/ 0 h 3883067"/>
                <a:gd name="connsiteX16" fmla="*/ 3533594 w 10723125"/>
                <a:gd name="connsiteY16" fmla="*/ 0 h 3883067"/>
                <a:gd name="connsiteX17" fmla="*/ 3806871 w 10723125"/>
                <a:gd name="connsiteY17" fmla="*/ 546555 h 3883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23125" h="3883067">
                  <a:moveTo>
                    <a:pt x="4080149" y="0"/>
                  </a:moveTo>
                  <a:lnTo>
                    <a:pt x="6642976" y="0"/>
                  </a:lnTo>
                  <a:lnTo>
                    <a:pt x="6916254" y="546555"/>
                  </a:lnTo>
                  <a:lnTo>
                    <a:pt x="7189531" y="0"/>
                  </a:lnTo>
                  <a:lnTo>
                    <a:pt x="9752358" y="0"/>
                  </a:lnTo>
                  <a:lnTo>
                    <a:pt x="10723125" y="1941534"/>
                  </a:lnTo>
                  <a:lnTo>
                    <a:pt x="9752358" y="3883067"/>
                  </a:lnTo>
                  <a:lnTo>
                    <a:pt x="7189531" y="3883067"/>
                  </a:lnTo>
                  <a:lnTo>
                    <a:pt x="6916254" y="3336513"/>
                  </a:lnTo>
                  <a:lnTo>
                    <a:pt x="6642976" y="3883067"/>
                  </a:lnTo>
                  <a:lnTo>
                    <a:pt x="4080149" y="3883067"/>
                  </a:lnTo>
                  <a:lnTo>
                    <a:pt x="3806871" y="3336513"/>
                  </a:lnTo>
                  <a:lnTo>
                    <a:pt x="3533594" y="3883067"/>
                  </a:lnTo>
                  <a:lnTo>
                    <a:pt x="970767" y="3883067"/>
                  </a:lnTo>
                  <a:lnTo>
                    <a:pt x="0" y="1941534"/>
                  </a:lnTo>
                  <a:lnTo>
                    <a:pt x="970767" y="0"/>
                  </a:lnTo>
                  <a:lnTo>
                    <a:pt x="3533594" y="0"/>
                  </a:lnTo>
                  <a:lnTo>
                    <a:pt x="3806871" y="546555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육각형 5">
              <a:extLst>
                <a:ext uri="{FF2B5EF4-FFF2-40B4-BE49-F238E27FC236}">
                  <a16:creationId xmlns:a16="http://schemas.microsoft.com/office/drawing/2014/main" id="{79175002-446C-B3D7-2E81-D34F0472E03D}"/>
                </a:ext>
              </a:extLst>
            </p:cNvPr>
            <p:cNvSpPr/>
            <p:nvPr/>
          </p:nvSpPr>
          <p:spPr>
            <a:xfrm>
              <a:off x="3945699" y="2016690"/>
              <a:ext cx="4509369" cy="3883067"/>
            </a:xfrm>
            <a:prstGeom prst="hexagon">
              <a:avLst/>
            </a:prstGeom>
            <a:solidFill>
              <a:schemeClr val="tx1">
                <a:lumMod val="75000"/>
                <a:lumOff val="25000"/>
                <a:alpha val="4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2552E8-0FD2-6398-4F77-FE090D3A18B9}"/>
              </a:ext>
            </a:extLst>
          </p:cNvPr>
          <p:cNvSpPr txBox="1"/>
          <p:nvPr/>
        </p:nvSpPr>
        <p:spPr>
          <a:xfrm>
            <a:off x="4918197" y="3707869"/>
            <a:ext cx="2159942" cy="724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b="1" dirty="0">
                <a:solidFill>
                  <a:schemeClr val="bg1"/>
                </a:solidFill>
              </a:rPr>
              <a:t>환자</a:t>
            </a:r>
            <a:r>
              <a:rPr lang="en-US" altLang="ko-KR" sz="2200" b="1" dirty="0">
                <a:solidFill>
                  <a:schemeClr val="bg1"/>
                </a:solidFill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</a:rPr>
              <a:t>개인</a:t>
            </a:r>
            <a:r>
              <a:rPr lang="en-US" altLang="ko-KR" sz="2200" b="1" dirty="0">
                <a:solidFill>
                  <a:schemeClr val="bg1"/>
                </a:solidFill>
              </a:rPr>
              <a:t>)</a:t>
            </a:r>
            <a:r>
              <a:rPr lang="ko-KR" altLang="en-US" sz="2200" b="1" dirty="0">
                <a:solidFill>
                  <a:schemeClr val="bg1"/>
                </a:solidFill>
              </a:rPr>
              <a:t> </a:t>
            </a:r>
            <a:br>
              <a:rPr lang="en-US" altLang="ko-KR" sz="2200" b="1" dirty="0">
                <a:solidFill>
                  <a:schemeClr val="bg1"/>
                </a:solidFill>
              </a:rPr>
            </a:br>
            <a:r>
              <a:rPr lang="ko-KR" altLang="en-US" sz="22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F92C44-7877-03FB-6A67-CE792B468BFB}"/>
              </a:ext>
            </a:extLst>
          </p:cNvPr>
          <p:cNvSpPr txBox="1"/>
          <p:nvPr/>
        </p:nvSpPr>
        <p:spPr>
          <a:xfrm>
            <a:off x="1899080" y="2794792"/>
            <a:ext cx="2759236" cy="463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이름</a:t>
            </a:r>
            <a:r>
              <a:rPr lang="en-US" altLang="ko-KR" sz="1300" dirty="0"/>
              <a:t>, </a:t>
            </a:r>
            <a:r>
              <a:rPr lang="ko-KR" altLang="en-US" sz="1300" dirty="0"/>
              <a:t>주민등록번호로 방문 시 </a:t>
            </a:r>
            <a:endParaRPr lang="en-US" altLang="ko-KR" sz="1300" dirty="0"/>
          </a:p>
          <a:p>
            <a:r>
              <a:rPr lang="ko-KR" altLang="en-US" sz="1300" dirty="0"/>
              <a:t>접수 가능</a:t>
            </a:r>
          </a:p>
        </p:txBody>
      </p:sp>
      <p:grpSp>
        <p:nvGrpSpPr>
          <p:cNvPr id="13" name="그룹 1037">
            <a:extLst>
              <a:ext uri="{FF2B5EF4-FFF2-40B4-BE49-F238E27FC236}">
                <a16:creationId xmlns:a16="http://schemas.microsoft.com/office/drawing/2014/main" id="{611F9E3B-B4F6-717F-E1C3-8F92E96ECDC7}"/>
              </a:ext>
            </a:extLst>
          </p:cNvPr>
          <p:cNvGrpSpPr/>
          <p:nvPr/>
        </p:nvGrpSpPr>
        <p:grpSpPr>
          <a:xfrm>
            <a:off x="1592152" y="2878168"/>
            <a:ext cx="306928" cy="296848"/>
            <a:chOff x="3224213" y="4793159"/>
            <a:chExt cx="543422" cy="530848"/>
          </a:xfrm>
        </p:grpSpPr>
        <p:pic>
          <p:nvPicPr>
            <p:cNvPr id="14" name="Object 111">
              <a:extLst>
                <a:ext uri="{FF2B5EF4-FFF2-40B4-BE49-F238E27FC236}">
                  <a16:creationId xmlns:a16="http://schemas.microsoft.com/office/drawing/2014/main" id="{970677EC-F2C6-F0B6-B843-10E1F0590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94044DB-6B00-0A53-19C1-14842D673336}"/>
              </a:ext>
            </a:extLst>
          </p:cNvPr>
          <p:cNvSpPr txBox="1"/>
          <p:nvPr/>
        </p:nvSpPr>
        <p:spPr>
          <a:xfrm>
            <a:off x="1553489" y="3864795"/>
            <a:ext cx="2759236" cy="275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병원</a:t>
            </a:r>
            <a:r>
              <a:rPr lang="en-US" altLang="ko-KR" sz="1300" dirty="0"/>
              <a:t>, </a:t>
            </a:r>
            <a:r>
              <a:rPr lang="ko-KR" altLang="en-US" sz="1300" dirty="0"/>
              <a:t>약국의 정보 쉽게</a:t>
            </a:r>
            <a:r>
              <a:rPr lang="en-US" altLang="ko-KR" sz="1300" dirty="0"/>
              <a:t> </a:t>
            </a:r>
            <a:r>
              <a:rPr lang="ko-KR" altLang="en-US" sz="1300" dirty="0"/>
              <a:t>찾기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8D91E4-048A-B5C1-E437-56060F30F9B9}"/>
              </a:ext>
            </a:extLst>
          </p:cNvPr>
          <p:cNvSpPr txBox="1"/>
          <p:nvPr/>
        </p:nvSpPr>
        <p:spPr>
          <a:xfrm>
            <a:off x="1839016" y="4788921"/>
            <a:ext cx="2759236" cy="463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위급한 경우 보호자 정보</a:t>
            </a:r>
            <a:r>
              <a:rPr lang="en-US" altLang="ko-KR" sz="1300" dirty="0"/>
              <a:t> </a:t>
            </a:r>
            <a:r>
              <a:rPr lang="ko-KR" altLang="en-US" sz="1300" dirty="0"/>
              <a:t>조회 </a:t>
            </a:r>
            <a:endParaRPr lang="en-US" altLang="ko-KR" sz="1300" dirty="0"/>
          </a:p>
          <a:p>
            <a:r>
              <a:rPr lang="ko-KR" altLang="en-US" sz="1300" dirty="0"/>
              <a:t>가능</a:t>
            </a:r>
          </a:p>
        </p:txBody>
      </p:sp>
      <p:grpSp>
        <p:nvGrpSpPr>
          <p:cNvPr id="29" name="그룹 1037">
            <a:extLst>
              <a:ext uri="{FF2B5EF4-FFF2-40B4-BE49-F238E27FC236}">
                <a16:creationId xmlns:a16="http://schemas.microsoft.com/office/drawing/2014/main" id="{963B4578-32C0-36E2-F0A9-FA4BA19716B4}"/>
              </a:ext>
            </a:extLst>
          </p:cNvPr>
          <p:cNvGrpSpPr/>
          <p:nvPr/>
        </p:nvGrpSpPr>
        <p:grpSpPr>
          <a:xfrm>
            <a:off x="1256155" y="3850806"/>
            <a:ext cx="306928" cy="296848"/>
            <a:chOff x="3224213" y="4793159"/>
            <a:chExt cx="543422" cy="530848"/>
          </a:xfrm>
        </p:grpSpPr>
        <p:pic>
          <p:nvPicPr>
            <p:cNvPr id="30" name="Object 111">
              <a:extLst>
                <a:ext uri="{FF2B5EF4-FFF2-40B4-BE49-F238E27FC236}">
                  <a16:creationId xmlns:a16="http://schemas.microsoft.com/office/drawing/2014/main" id="{B7A5015F-E80D-D0AE-9830-8291BB9EC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grpSp>
        <p:nvGrpSpPr>
          <p:cNvPr id="31" name="그룹 1037">
            <a:extLst>
              <a:ext uri="{FF2B5EF4-FFF2-40B4-BE49-F238E27FC236}">
                <a16:creationId xmlns:a16="http://schemas.microsoft.com/office/drawing/2014/main" id="{5305FE28-D759-9FDE-6948-7E8059B97736}"/>
              </a:ext>
            </a:extLst>
          </p:cNvPr>
          <p:cNvGrpSpPr/>
          <p:nvPr/>
        </p:nvGrpSpPr>
        <p:grpSpPr>
          <a:xfrm>
            <a:off x="1532088" y="4870537"/>
            <a:ext cx="306928" cy="296848"/>
            <a:chOff x="3224213" y="4793159"/>
            <a:chExt cx="543422" cy="530848"/>
          </a:xfrm>
        </p:grpSpPr>
        <p:pic>
          <p:nvPicPr>
            <p:cNvPr id="32" name="Object 111">
              <a:extLst>
                <a:ext uri="{FF2B5EF4-FFF2-40B4-BE49-F238E27FC236}">
                  <a16:creationId xmlns:a16="http://schemas.microsoft.com/office/drawing/2014/main" id="{98FB639A-0386-18DD-E762-7098443A6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069595E-DC60-CA50-A00C-4C8C18850E1F}"/>
              </a:ext>
            </a:extLst>
          </p:cNvPr>
          <p:cNvSpPr txBox="1"/>
          <p:nvPr/>
        </p:nvSpPr>
        <p:spPr>
          <a:xfrm>
            <a:off x="8088566" y="2646368"/>
            <a:ext cx="2759236" cy="463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환자 정보 제공을 통해 정확한 </a:t>
            </a:r>
            <a:endParaRPr lang="en-US" altLang="ko-KR" sz="1300" dirty="0"/>
          </a:p>
          <a:p>
            <a:r>
              <a:rPr lang="ko-KR" altLang="en-US" sz="1300" dirty="0"/>
              <a:t>진료</a:t>
            </a:r>
          </a:p>
        </p:txBody>
      </p:sp>
      <p:grpSp>
        <p:nvGrpSpPr>
          <p:cNvPr id="34" name="그룹 1037">
            <a:extLst>
              <a:ext uri="{FF2B5EF4-FFF2-40B4-BE49-F238E27FC236}">
                <a16:creationId xmlns:a16="http://schemas.microsoft.com/office/drawing/2014/main" id="{FCB337DA-D1EA-E2AF-AEC3-C51D8846E360}"/>
              </a:ext>
            </a:extLst>
          </p:cNvPr>
          <p:cNvGrpSpPr/>
          <p:nvPr/>
        </p:nvGrpSpPr>
        <p:grpSpPr>
          <a:xfrm>
            <a:off x="7781638" y="2788953"/>
            <a:ext cx="306928" cy="296848"/>
            <a:chOff x="3224213" y="4793159"/>
            <a:chExt cx="543422" cy="530848"/>
          </a:xfrm>
        </p:grpSpPr>
        <p:pic>
          <p:nvPicPr>
            <p:cNvPr id="35" name="Object 111">
              <a:extLst>
                <a:ext uri="{FF2B5EF4-FFF2-40B4-BE49-F238E27FC236}">
                  <a16:creationId xmlns:a16="http://schemas.microsoft.com/office/drawing/2014/main" id="{0FB476A0-8021-01A0-0600-3741CD978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BB3A850-FE75-37E7-8597-97F6E0E97B41}"/>
              </a:ext>
            </a:extLst>
          </p:cNvPr>
          <p:cNvSpPr txBox="1"/>
          <p:nvPr/>
        </p:nvSpPr>
        <p:spPr>
          <a:xfrm>
            <a:off x="8504636" y="3863620"/>
            <a:ext cx="2759236" cy="275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진료 후 편하게</a:t>
            </a:r>
            <a:r>
              <a:rPr lang="en-US" altLang="ko-KR" sz="1300" dirty="0"/>
              <a:t> </a:t>
            </a:r>
            <a:r>
              <a:rPr lang="ko-KR" altLang="en-US" sz="1300" dirty="0"/>
              <a:t>약 처방 가능</a:t>
            </a:r>
          </a:p>
        </p:txBody>
      </p:sp>
      <p:grpSp>
        <p:nvGrpSpPr>
          <p:cNvPr id="37" name="그룹 1037">
            <a:extLst>
              <a:ext uri="{FF2B5EF4-FFF2-40B4-BE49-F238E27FC236}">
                <a16:creationId xmlns:a16="http://schemas.microsoft.com/office/drawing/2014/main" id="{A40BDF99-0546-97CE-0F4C-6D24132E0B5F}"/>
              </a:ext>
            </a:extLst>
          </p:cNvPr>
          <p:cNvGrpSpPr/>
          <p:nvPr/>
        </p:nvGrpSpPr>
        <p:grpSpPr>
          <a:xfrm>
            <a:off x="8207303" y="3849631"/>
            <a:ext cx="306928" cy="296848"/>
            <a:chOff x="3224213" y="4793159"/>
            <a:chExt cx="543422" cy="530848"/>
          </a:xfrm>
        </p:grpSpPr>
        <p:pic>
          <p:nvPicPr>
            <p:cNvPr id="38" name="Object 111">
              <a:extLst>
                <a:ext uri="{FF2B5EF4-FFF2-40B4-BE49-F238E27FC236}">
                  <a16:creationId xmlns:a16="http://schemas.microsoft.com/office/drawing/2014/main" id="{A60FF1C3-06BD-0FF9-192A-085FE606E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0488650-7C5D-E77F-DB51-AF234EB50D01}"/>
              </a:ext>
            </a:extLst>
          </p:cNvPr>
          <p:cNvSpPr txBox="1"/>
          <p:nvPr/>
        </p:nvSpPr>
        <p:spPr>
          <a:xfrm>
            <a:off x="8168490" y="4788921"/>
            <a:ext cx="2759236" cy="463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방문 병원</a:t>
            </a:r>
            <a:r>
              <a:rPr lang="en-US" altLang="ko-KR" sz="1300" dirty="0"/>
              <a:t>, </a:t>
            </a:r>
            <a:r>
              <a:rPr lang="ko-KR" altLang="en-US" sz="1300" dirty="0"/>
              <a:t>약국 후기 조회 및 </a:t>
            </a:r>
            <a:endParaRPr lang="en-US" altLang="ko-KR" sz="1300" dirty="0"/>
          </a:p>
          <a:p>
            <a:r>
              <a:rPr lang="ko-KR" altLang="en-US" sz="1300" dirty="0"/>
              <a:t>작성 가능</a:t>
            </a:r>
          </a:p>
        </p:txBody>
      </p:sp>
      <p:pic>
        <p:nvPicPr>
          <p:cNvPr id="41" name="Object 111">
            <a:extLst>
              <a:ext uri="{FF2B5EF4-FFF2-40B4-BE49-F238E27FC236}">
                <a16:creationId xmlns:a16="http://schemas.microsoft.com/office/drawing/2014/main" id="{50B99469-C27D-EFB0-05CE-23AF21FAD8B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49219" y="4872155"/>
            <a:ext cx="306928" cy="29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41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9" grpId="0"/>
      <p:bldP spid="28" grpId="0"/>
      <p:bldP spid="33" grpId="0"/>
      <p:bldP spid="36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2" y="310015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5FBD9-DDB9-720D-B60B-8673FE778D45}"/>
              </a:ext>
            </a:extLst>
          </p:cNvPr>
          <p:cNvSpPr txBox="1"/>
          <p:nvPr/>
        </p:nvSpPr>
        <p:spPr>
          <a:xfrm>
            <a:off x="576197" y="842119"/>
            <a:ext cx="1693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+mn-ea"/>
                <a:cs typeface="Cavolini" panose="03000502040302020204" pitchFamily="66" charset="0"/>
              </a:rPr>
              <a:t>REQUIRE</a:t>
            </a:r>
            <a:endParaRPr lang="ko-KR" altLang="en-US" sz="2800" b="1" dirty="0"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0DB703F-C8E1-688D-DC79-78DC0C4B327B}"/>
              </a:ext>
            </a:extLst>
          </p:cNvPr>
          <p:cNvCxnSpPr>
            <a:cxnSpLocks/>
          </p:cNvCxnSpPr>
          <p:nvPr/>
        </p:nvCxnSpPr>
        <p:spPr>
          <a:xfrm>
            <a:off x="676405" y="1365339"/>
            <a:ext cx="14571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B18B06AF-1E1E-AC27-E162-57D327162618}"/>
              </a:ext>
            </a:extLst>
          </p:cNvPr>
          <p:cNvGrpSpPr/>
          <p:nvPr/>
        </p:nvGrpSpPr>
        <p:grpSpPr>
          <a:xfrm>
            <a:off x="928127" y="2242245"/>
            <a:ext cx="10140084" cy="3655621"/>
            <a:chOff x="834646" y="2016690"/>
            <a:chExt cx="10723125" cy="3883067"/>
          </a:xfrm>
        </p:grpSpPr>
        <p:sp>
          <p:nvSpPr>
            <p:cNvPr id="5" name="자유형 31">
              <a:extLst>
                <a:ext uri="{FF2B5EF4-FFF2-40B4-BE49-F238E27FC236}">
                  <a16:creationId xmlns:a16="http://schemas.microsoft.com/office/drawing/2014/main" id="{35E1BE9E-6AA7-51D9-7626-990BBF18D3C8}"/>
                </a:ext>
              </a:extLst>
            </p:cNvPr>
            <p:cNvSpPr/>
            <p:nvPr/>
          </p:nvSpPr>
          <p:spPr>
            <a:xfrm>
              <a:off x="834646" y="2016690"/>
              <a:ext cx="10723125" cy="3883067"/>
            </a:xfrm>
            <a:custGeom>
              <a:avLst/>
              <a:gdLst>
                <a:gd name="connsiteX0" fmla="*/ 4080149 w 10723125"/>
                <a:gd name="connsiteY0" fmla="*/ 0 h 3883067"/>
                <a:gd name="connsiteX1" fmla="*/ 6642976 w 10723125"/>
                <a:gd name="connsiteY1" fmla="*/ 0 h 3883067"/>
                <a:gd name="connsiteX2" fmla="*/ 6916254 w 10723125"/>
                <a:gd name="connsiteY2" fmla="*/ 546555 h 3883067"/>
                <a:gd name="connsiteX3" fmla="*/ 7189531 w 10723125"/>
                <a:gd name="connsiteY3" fmla="*/ 0 h 3883067"/>
                <a:gd name="connsiteX4" fmla="*/ 9752358 w 10723125"/>
                <a:gd name="connsiteY4" fmla="*/ 0 h 3883067"/>
                <a:gd name="connsiteX5" fmla="*/ 10723125 w 10723125"/>
                <a:gd name="connsiteY5" fmla="*/ 1941534 h 3883067"/>
                <a:gd name="connsiteX6" fmla="*/ 9752358 w 10723125"/>
                <a:gd name="connsiteY6" fmla="*/ 3883067 h 3883067"/>
                <a:gd name="connsiteX7" fmla="*/ 7189531 w 10723125"/>
                <a:gd name="connsiteY7" fmla="*/ 3883067 h 3883067"/>
                <a:gd name="connsiteX8" fmla="*/ 6916254 w 10723125"/>
                <a:gd name="connsiteY8" fmla="*/ 3336513 h 3883067"/>
                <a:gd name="connsiteX9" fmla="*/ 6642976 w 10723125"/>
                <a:gd name="connsiteY9" fmla="*/ 3883067 h 3883067"/>
                <a:gd name="connsiteX10" fmla="*/ 4080149 w 10723125"/>
                <a:gd name="connsiteY10" fmla="*/ 3883067 h 3883067"/>
                <a:gd name="connsiteX11" fmla="*/ 3806871 w 10723125"/>
                <a:gd name="connsiteY11" fmla="*/ 3336513 h 3883067"/>
                <a:gd name="connsiteX12" fmla="*/ 3533594 w 10723125"/>
                <a:gd name="connsiteY12" fmla="*/ 3883067 h 3883067"/>
                <a:gd name="connsiteX13" fmla="*/ 970767 w 10723125"/>
                <a:gd name="connsiteY13" fmla="*/ 3883067 h 3883067"/>
                <a:gd name="connsiteX14" fmla="*/ 0 w 10723125"/>
                <a:gd name="connsiteY14" fmla="*/ 1941534 h 3883067"/>
                <a:gd name="connsiteX15" fmla="*/ 970767 w 10723125"/>
                <a:gd name="connsiteY15" fmla="*/ 0 h 3883067"/>
                <a:gd name="connsiteX16" fmla="*/ 3533594 w 10723125"/>
                <a:gd name="connsiteY16" fmla="*/ 0 h 3883067"/>
                <a:gd name="connsiteX17" fmla="*/ 3806871 w 10723125"/>
                <a:gd name="connsiteY17" fmla="*/ 546555 h 3883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23125" h="3883067">
                  <a:moveTo>
                    <a:pt x="4080149" y="0"/>
                  </a:moveTo>
                  <a:lnTo>
                    <a:pt x="6642976" y="0"/>
                  </a:lnTo>
                  <a:lnTo>
                    <a:pt x="6916254" y="546555"/>
                  </a:lnTo>
                  <a:lnTo>
                    <a:pt x="7189531" y="0"/>
                  </a:lnTo>
                  <a:lnTo>
                    <a:pt x="9752358" y="0"/>
                  </a:lnTo>
                  <a:lnTo>
                    <a:pt x="10723125" y="1941534"/>
                  </a:lnTo>
                  <a:lnTo>
                    <a:pt x="9752358" y="3883067"/>
                  </a:lnTo>
                  <a:lnTo>
                    <a:pt x="7189531" y="3883067"/>
                  </a:lnTo>
                  <a:lnTo>
                    <a:pt x="6916254" y="3336513"/>
                  </a:lnTo>
                  <a:lnTo>
                    <a:pt x="6642976" y="3883067"/>
                  </a:lnTo>
                  <a:lnTo>
                    <a:pt x="4080149" y="3883067"/>
                  </a:lnTo>
                  <a:lnTo>
                    <a:pt x="3806871" y="3336513"/>
                  </a:lnTo>
                  <a:lnTo>
                    <a:pt x="3533594" y="3883067"/>
                  </a:lnTo>
                  <a:lnTo>
                    <a:pt x="970767" y="3883067"/>
                  </a:lnTo>
                  <a:lnTo>
                    <a:pt x="0" y="1941534"/>
                  </a:lnTo>
                  <a:lnTo>
                    <a:pt x="970767" y="0"/>
                  </a:lnTo>
                  <a:lnTo>
                    <a:pt x="3533594" y="0"/>
                  </a:lnTo>
                  <a:lnTo>
                    <a:pt x="3806871" y="546555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육각형 5">
              <a:extLst>
                <a:ext uri="{FF2B5EF4-FFF2-40B4-BE49-F238E27FC236}">
                  <a16:creationId xmlns:a16="http://schemas.microsoft.com/office/drawing/2014/main" id="{79175002-446C-B3D7-2E81-D34F0472E03D}"/>
                </a:ext>
              </a:extLst>
            </p:cNvPr>
            <p:cNvSpPr/>
            <p:nvPr/>
          </p:nvSpPr>
          <p:spPr>
            <a:xfrm>
              <a:off x="3945699" y="2016690"/>
              <a:ext cx="4509369" cy="3883067"/>
            </a:xfrm>
            <a:prstGeom prst="hexagon">
              <a:avLst/>
            </a:prstGeom>
            <a:solidFill>
              <a:schemeClr val="tx1">
                <a:lumMod val="75000"/>
                <a:lumOff val="25000"/>
                <a:alpha val="4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2552E8-0FD2-6398-4F77-FE090D3A18B9}"/>
              </a:ext>
            </a:extLst>
          </p:cNvPr>
          <p:cNvSpPr txBox="1"/>
          <p:nvPr/>
        </p:nvSpPr>
        <p:spPr>
          <a:xfrm>
            <a:off x="4918196" y="3707869"/>
            <a:ext cx="21599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b="1" dirty="0">
                <a:solidFill>
                  <a:schemeClr val="bg1"/>
                </a:solidFill>
              </a:rPr>
              <a:t>병원</a:t>
            </a:r>
            <a:r>
              <a:rPr lang="en-US" altLang="ko-KR" sz="2200" b="1" dirty="0">
                <a:solidFill>
                  <a:schemeClr val="bg1"/>
                </a:solidFill>
              </a:rPr>
              <a:t>/ </a:t>
            </a:r>
            <a:r>
              <a:rPr lang="ko-KR" altLang="en-US" sz="2200" b="1" dirty="0">
                <a:solidFill>
                  <a:schemeClr val="bg1"/>
                </a:solidFill>
              </a:rPr>
              <a:t>약국 </a:t>
            </a:r>
            <a:br>
              <a:rPr lang="en-US" altLang="ko-KR" sz="2200" b="1" dirty="0">
                <a:solidFill>
                  <a:schemeClr val="bg1"/>
                </a:solidFill>
              </a:rPr>
            </a:br>
            <a:r>
              <a:rPr lang="ko-KR" altLang="en-US" sz="22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F92C44-7877-03FB-6A67-CE792B468BFB}"/>
              </a:ext>
            </a:extLst>
          </p:cNvPr>
          <p:cNvSpPr txBox="1"/>
          <p:nvPr/>
        </p:nvSpPr>
        <p:spPr>
          <a:xfrm>
            <a:off x="1910059" y="2878167"/>
            <a:ext cx="27592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/>
              <a:t>환자의 정보를 쉽게 조회 가능</a:t>
            </a:r>
            <a:endParaRPr lang="ko-KR" altLang="en-US" sz="1300" dirty="0"/>
          </a:p>
        </p:txBody>
      </p:sp>
      <p:grpSp>
        <p:nvGrpSpPr>
          <p:cNvPr id="13" name="그룹 1037">
            <a:extLst>
              <a:ext uri="{FF2B5EF4-FFF2-40B4-BE49-F238E27FC236}">
                <a16:creationId xmlns:a16="http://schemas.microsoft.com/office/drawing/2014/main" id="{611F9E3B-B4F6-717F-E1C3-8F92E96ECDC7}"/>
              </a:ext>
            </a:extLst>
          </p:cNvPr>
          <p:cNvGrpSpPr/>
          <p:nvPr/>
        </p:nvGrpSpPr>
        <p:grpSpPr>
          <a:xfrm>
            <a:off x="1592151" y="2878168"/>
            <a:ext cx="306928" cy="296848"/>
            <a:chOff x="3224213" y="4793159"/>
            <a:chExt cx="543422" cy="530848"/>
          </a:xfrm>
        </p:grpSpPr>
        <p:pic>
          <p:nvPicPr>
            <p:cNvPr id="14" name="Object 111">
              <a:extLst>
                <a:ext uri="{FF2B5EF4-FFF2-40B4-BE49-F238E27FC236}">
                  <a16:creationId xmlns:a16="http://schemas.microsoft.com/office/drawing/2014/main" id="{970677EC-F2C6-F0B6-B843-10E1F0590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94044DB-6B00-0A53-19C1-14842D673336}"/>
              </a:ext>
            </a:extLst>
          </p:cNvPr>
          <p:cNvSpPr txBox="1"/>
          <p:nvPr/>
        </p:nvSpPr>
        <p:spPr>
          <a:xfrm>
            <a:off x="1562278" y="3755029"/>
            <a:ext cx="27592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면허증 업로드 필수</a:t>
            </a:r>
            <a:br>
              <a:rPr lang="en-US" altLang="ko-KR" sz="1300" dirty="0"/>
            </a:br>
            <a:r>
              <a:rPr lang="en-US" altLang="ko-KR" sz="1300" dirty="0"/>
              <a:t>(</a:t>
            </a:r>
            <a:r>
              <a:rPr lang="ko-KR" altLang="en-US" sz="1300" dirty="0"/>
              <a:t>정보 보안을 위함</a:t>
            </a:r>
            <a:r>
              <a:rPr lang="en-US" altLang="ko-KR" sz="1300" dirty="0"/>
              <a:t>)</a:t>
            </a:r>
            <a:endParaRPr lang="ko-KR" altLang="en-US" sz="13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8D91E4-048A-B5C1-E437-56060F30F9B9}"/>
              </a:ext>
            </a:extLst>
          </p:cNvPr>
          <p:cNvSpPr txBox="1"/>
          <p:nvPr/>
        </p:nvSpPr>
        <p:spPr>
          <a:xfrm>
            <a:off x="1899080" y="4870537"/>
            <a:ext cx="27592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처방전 업로드</a:t>
            </a:r>
            <a:r>
              <a:rPr lang="en-US" altLang="ko-KR" sz="1300" dirty="0"/>
              <a:t>/ </a:t>
            </a:r>
            <a:r>
              <a:rPr lang="ko-KR" altLang="en-US" sz="1300" dirty="0"/>
              <a:t>조회 가능</a:t>
            </a:r>
          </a:p>
        </p:txBody>
      </p:sp>
      <p:grpSp>
        <p:nvGrpSpPr>
          <p:cNvPr id="29" name="그룹 1037">
            <a:extLst>
              <a:ext uri="{FF2B5EF4-FFF2-40B4-BE49-F238E27FC236}">
                <a16:creationId xmlns:a16="http://schemas.microsoft.com/office/drawing/2014/main" id="{963B4578-32C0-36E2-F0A9-FA4BA19716B4}"/>
              </a:ext>
            </a:extLst>
          </p:cNvPr>
          <p:cNvGrpSpPr/>
          <p:nvPr/>
        </p:nvGrpSpPr>
        <p:grpSpPr>
          <a:xfrm>
            <a:off x="1256155" y="3850806"/>
            <a:ext cx="306928" cy="296848"/>
            <a:chOff x="3224213" y="4793159"/>
            <a:chExt cx="543422" cy="530848"/>
          </a:xfrm>
        </p:grpSpPr>
        <p:pic>
          <p:nvPicPr>
            <p:cNvPr id="30" name="Object 111">
              <a:extLst>
                <a:ext uri="{FF2B5EF4-FFF2-40B4-BE49-F238E27FC236}">
                  <a16:creationId xmlns:a16="http://schemas.microsoft.com/office/drawing/2014/main" id="{B7A5015F-E80D-D0AE-9830-8291BB9EC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grpSp>
        <p:nvGrpSpPr>
          <p:cNvPr id="31" name="그룹 1037">
            <a:extLst>
              <a:ext uri="{FF2B5EF4-FFF2-40B4-BE49-F238E27FC236}">
                <a16:creationId xmlns:a16="http://schemas.microsoft.com/office/drawing/2014/main" id="{5305FE28-D759-9FDE-6948-7E8059B97736}"/>
              </a:ext>
            </a:extLst>
          </p:cNvPr>
          <p:cNvGrpSpPr/>
          <p:nvPr/>
        </p:nvGrpSpPr>
        <p:grpSpPr>
          <a:xfrm>
            <a:off x="1532088" y="4870537"/>
            <a:ext cx="306928" cy="296848"/>
            <a:chOff x="3224213" y="4793159"/>
            <a:chExt cx="543422" cy="530848"/>
          </a:xfrm>
        </p:grpSpPr>
        <p:pic>
          <p:nvPicPr>
            <p:cNvPr id="32" name="Object 111">
              <a:extLst>
                <a:ext uri="{FF2B5EF4-FFF2-40B4-BE49-F238E27FC236}">
                  <a16:creationId xmlns:a16="http://schemas.microsoft.com/office/drawing/2014/main" id="{98FB639A-0386-18DD-E762-7098443A6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069595E-DC60-CA50-A00C-4C8C18850E1F}"/>
              </a:ext>
            </a:extLst>
          </p:cNvPr>
          <p:cNvSpPr txBox="1"/>
          <p:nvPr/>
        </p:nvSpPr>
        <p:spPr>
          <a:xfrm>
            <a:off x="8088565" y="2683203"/>
            <a:ext cx="27592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후기를 통해 피드백 후 개선 </a:t>
            </a:r>
            <a:endParaRPr lang="en-US" altLang="ko-KR" sz="1300" dirty="0"/>
          </a:p>
          <a:p>
            <a:r>
              <a:rPr lang="ko-KR" altLang="en-US" sz="1300" dirty="0"/>
              <a:t>가능</a:t>
            </a:r>
          </a:p>
        </p:txBody>
      </p:sp>
      <p:grpSp>
        <p:nvGrpSpPr>
          <p:cNvPr id="34" name="그룹 1037">
            <a:extLst>
              <a:ext uri="{FF2B5EF4-FFF2-40B4-BE49-F238E27FC236}">
                <a16:creationId xmlns:a16="http://schemas.microsoft.com/office/drawing/2014/main" id="{FCB337DA-D1EA-E2AF-AEC3-C51D8846E360}"/>
              </a:ext>
            </a:extLst>
          </p:cNvPr>
          <p:cNvGrpSpPr/>
          <p:nvPr/>
        </p:nvGrpSpPr>
        <p:grpSpPr>
          <a:xfrm>
            <a:off x="7781637" y="2788953"/>
            <a:ext cx="306928" cy="296848"/>
            <a:chOff x="3224213" y="4793159"/>
            <a:chExt cx="543422" cy="530848"/>
          </a:xfrm>
        </p:grpSpPr>
        <p:pic>
          <p:nvPicPr>
            <p:cNvPr id="35" name="Object 111">
              <a:extLst>
                <a:ext uri="{FF2B5EF4-FFF2-40B4-BE49-F238E27FC236}">
                  <a16:creationId xmlns:a16="http://schemas.microsoft.com/office/drawing/2014/main" id="{0FB476A0-8021-01A0-0600-3741CD978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BB3A850-FE75-37E7-8597-97F6E0E97B41}"/>
              </a:ext>
            </a:extLst>
          </p:cNvPr>
          <p:cNvSpPr txBox="1"/>
          <p:nvPr/>
        </p:nvSpPr>
        <p:spPr>
          <a:xfrm>
            <a:off x="8471583" y="3849631"/>
            <a:ext cx="27592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근무지 수정 가능</a:t>
            </a:r>
          </a:p>
        </p:txBody>
      </p:sp>
      <p:grpSp>
        <p:nvGrpSpPr>
          <p:cNvPr id="37" name="그룹 1037">
            <a:extLst>
              <a:ext uri="{FF2B5EF4-FFF2-40B4-BE49-F238E27FC236}">
                <a16:creationId xmlns:a16="http://schemas.microsoft.com/office/drawing/2014/main" id="{A40BDF99-0546-97CE-0F4C-6D24132E0B5F}"/>
              </a:ext>
            </a:extLst>
          </p:cNvPr>
          <p:cNvGrpSpPr/>
          <p:nvPr/>
        </p:nvGrpSpPr>
        <p:grpSpPr>
          <a:xfrm>
            <a:off x="8207302" y="3849631"/>
            <a:ext cx="306928" cy="296848"/>
            <a:chOff x="3224213" y="4793159"/>
            <a:chExt cx="543422" cy="530848"/>
          </a:xfrm>
        </p:grpSpPr>
        <p:pic>
          <p:nvPicPr>
            <p:cNvPr id="38" name="Object 111">
              <a:extLst>
                <a:ext uri="{FF2B5EF4-FFF2-40B4-BE49-F238E27FC236}">
                  <a16:creationId xmlns:a16="http://schemas.microsoft.com/office/drawing/2014/main" id="{A60FF1C3-06BD-0FF9-192A-085FE606E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0488650-7C5D-E77F-DB51-AF234EB50D01}"/>
              </a:ext>
            </a:extLst>
          </p:cNvPr>
          <p:cNvSpPr txBox="1"/>
          <p:nvPr/>
        </p:nvSpPr>
        <p:spPr>
          <a:xfrm>
            <a:off x="8134209" y="4783032"/>
            <a:ext cx="27592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병원 </a:t>
            </a:r>
            <a:r>
              <a:rPr lang="en-US" altLang="ko-KR" sz="1300" dirty="0"/>
              <a:t>/ </a:t>
            </a:r>
            <a:r>
              <a:rPr lang="ko-KR" altLang="en-US" sz="1300" dirty="0"/>
              <a:t>약국으로 회원가입 후 </a:t>
            </a:r>
            <a:br>
              <a:rPr lang="en-US" altLang="ko-KR" sz="1300" dirty="0"/>
            </a:br>
            <a:r>
              <a:rPr lang="ko-KR" altLang="en-US" sz="1300" dirty="0"/>
              <a:t>개인으로</a:t>
            </a:r>
            <a:r>
              <a:rPr lang="en-US" altLang="ko-KR" sz="1300" dirty="0"/>
              <a:t> </a:t>
            </a:r>
            <a:r>
              <a:rPr lang="ko-KR" altLang="en-US" sz="1300" dirty="0"/>
              <a:t>회원가입 가능</a:t>
            </a:r>
          </a:p>
        </p:txBody>
      </p:sp>
      <p:pic>
        <p:nvPicPr>
          <p:cNvPr id="41" name="Object 111">
            <a:extLst>
              <a:ext uri="{FF2B5EF4-FFF2-40B4-BE49-F238E27FC236}">
                <a16:creationId xmlns:a16="http://schemas.microsoft.com/office/drawing/2014/main" id="{50B99469-C27D-EFB0-05CE-23AF21FAD8B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49219" y="4872155"/>
            <a:ext cx="306928" cy="29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8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8" grpId="0"/>
      <p:bldP spid="33" grpId="0"/>
      <p:bldP spid="36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2" y="310015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5FBD9-DDB9-720D-B60B-8673FE778D45}"/>
              </a:ext>
            </a:extLst>
          </p:cNvPr>
          <p:cNvSpPr txBox="1"/>
          <p:nvPr/>
        </p:nvSpPr>
        <p:spPr>
          <a:xfrm>
            <a:off x="576197" y="842119"/>
            <a:ext cx="1693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+mn-ea"/>
                <a:cs typeface="Cavolini" panose="03000502040302020204" pitchFamily="66" charset="0"/>
              </a:rPr>
              <a:t>REQUIRE</a:t>
            </a:r>
            <a:endParaRPr lang="ko-KR" altLang="en-US" sz="2800" b="1" dirty="0"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0DB703F-C8E1-688D-DC79-78DC0C4B327B}"/>
              </a:ext>
            </a:extLst>
          </p:cNvPr>
          <p:cNvCxnSpPr>
            <a:cxnSpLocks/>
          </p:cNvCxnSpPr>
          <p:nvPr/>
        </p:nvCxnSpPr>
        <p:spPr>
          <a:xfrm>
            <a:off x="676405" y="1365339"/>
            <a:ext cx="14571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03FE5316-8F39-59AB-6D02-78062F0FEE6E}"/>
              </a:ext>
            </a:extLst>
          </p:cNvPr>
          <p:cNvSpPr/>
          <p:nvPr/>
        </p:nvSpPr>
        <p:spPr>
          <a:xfrm>
            <a:off x="1957942" y="2467508"/>
            <a:ext cx="984960" cy="98496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DCA717-F86D-13D5-CF9B-F7D15A0CFF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893" y="2665638"/>
            <a:ext cx="593387" cy="593387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13BB3CA3-86A0-3A70-9C41-0C66B2C962FF}"/>
              </a:ext>
            </a:extLst>
          </p:cNvPr>
          <p:cNvGrpSpPr/>
          <p:nvPr/>
        </p:nvGrpSpPr>
        <p:grpSpPr>
          <a:xfrm>
            <a:off x="8788367" y="2467508"/>
            <a:ext cx="984960" cy="984960"/>
            <a:chOff x="9633237" y="1394686"/>
            <a:chExt cx="984960" cy="984960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100FA1B-EB6E-3A8B-948E-5259D10C475B}"/>
                </a:ext>
              </a:extLst>
            </p:cNvPr>
            <p:cNvSpPr/>
            <p:nvPr/>
          </p:nvSpPr>
          <p:spPr>
            <a:xfrm>
              <a:off x="9633237" y="1394686"/>
              <a:ext cx="984960" cy="98496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A0F0ADE3-2CE1-BD89-05CC-D15AFCA35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2901" y="1596248"/>
              <a:ext cx="631940" cy="631940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9AB4410-E25C-126C-6AAA-9923803B6729}"/>
              </a:ext>
            </a:extLst>
          </p:cNvPr>
          <p:cNvGrpSpPr/>
          <p:nvPr/>
        </p:nvGrpSpPr>
        <p:grpSpPr>
          <a:xfrm>
            <a:off x="5381720" y="2467508"/>
            <a:ext cx="984960" cy="984960"/>
            <a:chOff x="7005560" y="3223485"/>
            <a:chExt cx="984960" cy="984960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F458DD0D-2C2E-A28D-66C2-7F1A9D3E4D4D}"/>
                </a:ext>
              </a:extLst>
            </p:cNvPr>
            <p:cNvSpPr/>
            <p:nvPr/>
          </p:nvSpPr>
          <p:spPr>
            <a:xfrm>
              <a:off x="7005560" y="3223485"/>
              <a:ext cx="984960" cy="98496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19B0817D-646D-1765-37F0-75F0BA5BA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2204" y="3383238"/>
              <a:ext cx="737473" cy="737473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AF50723-557B-FB59-4CD8-08056F163610}"/>
              </a:ext>
            </a:extLst>
          </p:cNvPr>
          <p:cNvGrpSpPr/>
          <p:nvPr/>
        </p:nvGrpSpPr>
        <p:grpSpPr>
          <a:xfrm>
            <a:off x="672219" y="3775979"/>
            <a:ext cx="3576734" cy="1224239"/>
            <a:chOff x="173426" y="3789024"/>
            <a:chExt cx="3576734" cy="122423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F4E3A08-7B5C-B0CC-4891-7547D9420032}"/>
                </a:ext>
              </a:extLst>
            </p:cNvPr>
            <p:cNvSpPr txBox="1"/>
            <p:nvPr/>
          </p:nvSpPr>
          <p:spPr>
            <a:xfrm>
              <a:off x="686461" y="4120711"/>
              <a:ext cx="255066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구분된 회원으로 회원가입 </a:t>
              </a:r>
              <a:b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</a:b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가능하며 병원 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/ 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약국으로 </a:t>
              </a:r>
              <a:b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</a:b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회원가입 할 경우 면허증 </a:t>
              </a:r>
              <a:b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</a:b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업로드 필수 </a:t>
              </a:r>
              <a:endParaRPr lang="en-US" altLang="ko-KR" sz="1300" dirty="0">
                <a:solidFill>
                  <a:schemeClr val="bg2">
                    <a:lumMod val="25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A034CE6-423A-9775-BD00-E177AD7569E7}"/>
                </a:ext>
              </a:extLst>
            </p:cNvPr>
            <p:cNvSpPr txBox="1"/>
            <p:nvPr/>
          </p:nvSpPr>
          <p:spPr>
            <a:xfrm>
              <a:off x="173426" y="3789024"/>
              <a:ext cx="3576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회원가입 </a:t>
              </a:r>
              <a:r>
                <a:rPr lang="en-US" altLang="ko-KR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/ </a:t>
              </a:r>
              <a:r>
                <a:rPr lang="ko-KR" altLang="en-US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로그인 기능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65D5FC3-F643-94DC-AA24-7DBFABC81FC0}"/>
              </a:ext>
            </a:extLst>
          </p:cNvPr>
          <p:cNvGrpSpPr/>
          <p:nvPr/>
        </p:nvGrpSpPr>
        <p:grpSpPr>
          <a:xfrm>
            <a:off x="4085833" y="3775979"/>
            <a:ext cx="3576734" cy="1224239"/>
            <a:chOff x="173426" y="3789024"/>
            <a:chExt cx="3576734" cy="122423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11044F4-189B-6649-EAFC-725803CB3901}"/>
                </a:ext>
              </a:extLst>
            </p:cNvPr>
            <p:cNvSpPr txBox="1"/>
            <p:nvPr/>
          </p:nvSpPr>
          <p:spPr>
            <a:xfrm>
              <a:off x="686461" y="4120711"/>
              <a:ext cx="255066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병원 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/ 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약국으로 로그인 된 </a:t>
              </a:r>
              <a:b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</a:b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회원만 접근 가능하며 </a:t>
              </a:r>
              <a:b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</a:b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처방전 다운로드 시 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DB 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정보 </a:t>
              </a:r>
              <a:b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</a:b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삭제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23598D3-D246-0F6F-720A-B7B59E611E89}"/>
                </a:ext>
              </a:extLst>
            </p:cNvPr>
            <p:cNvSpPr txBox="1"/>
            <p:nvPr/>
          </p:nvSpPr>
          <p:spPr>
            <a:xfrm>
              <a:off x="173426" y="3789024"/>
              <a:ext cx="3576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처방전 업로드 </a:t>
              </a:r>
              <a:r>
                <a:rPr lang="en-US" altLang="ko-KR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/ </a:t>
              </a:r>
              <a:r>
                <a:rPr lang="ko-KR" altLang="en-US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조회 기능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CE73F1D-A3A1-E286-3941-D2A93BDFFA65}"/>
              </a:ext>
            </a:extLst>
          </p:cNvPr>
          <p:cNvGrpSpPr/>
          <p:nvPr/>
        </p:nvGrpSpPr>
        <p:grpSpPr>
          <a:xfrm>
            <a:off x="7482316" y="3739970"/>
            <a:ext cx="3576734" cy="1024184"/>
            <a:chOff x="173426" y="3789024"/>
            <a:chExt cx="3576734" cy="102418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4971E1D-11A3-219A-D4F8-585D5CD5AEFF}"/>
                </a:ext>
              </a:extLst>
            </p:cNvPr>
            <p:cNvSpPr txBox="1"/>
            <p:nvPr/>
          </p:nvSpPr>
          <p:spPr>
            <a:xfrm>
              <a:off x="686461" y="4120711"/>
              <a:ext cx="2550664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병원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,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약국 이름으로 정보를 조회할 수 있으며 관련 후기를 읽고 작성할 수 있다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.</a:t>
              </a:r>
              <a:endParaRPr lang="ko-KR" altLang="en-US" sz="1300" dirty="0">
                <a:solidFill>
                  <a:schemeClr val="bg2">
                    <a:lumMod val="25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CEEF5CC-70BF-92E0-166C-72562C34C804}"/>
                </a:ext>
              </a:extLst>
            </p:cNvPr>
            <p:cNvSpPr txBox="1"/>
            <p:nvPr/>
          </p:nvSpPr>
          <p:spPr>
            <a:xfrm>
              <a:off x="173426" y="3789024"/>
              <a:ext cx="3576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병원 </a:t>
              </a:r>
              <a:r>
                <a:rPr lang="en-US" altLang="ko-KR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/ </a:t>
              </a:r>
              <a:r>
                <a:rPr lang="ko-KR" altLang="en-US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약국 조회 기능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456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2283B2-6649-4F77-F2B6-A68FD0A776B7}"/>
              </a:ext>
            </a:extLst>
          </p:cNvPr>
          <p:cNvSpPr txBox="1"/>
          <p:nvPr/>
        </p:nvSpPr>
        <p:spPr>
          <a:xfrm>
            <a:off x="576197" y="842119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+mn-ea"/>
                <a:cs typeface="Cavolini" panose="03000502040302020204" pitchFamily="66" charset="0"/>
              </a:rPr>
              <a:t>ER MODEL</a:t>
            </a:r>
            <a:endParaRPr lang="ko-KR" altLang="en-US" sz="2800" b="1" dirty="0">
              <a:latin typeface="+mn-ea"/>
              <a:cs typeface="Cavolini" panose="03000502040302020204" pitchFamily="66" charset="0"/>
            </a:endParaRPr>
          </a:p>
        </p:txBody>
      </p:sp>
      <p:pic>
        <p:nvPicPr>
          <p:cNvPr id="5" name="그림 4" descr="텍스트, 스크린샷, 평행, 번호이(가) 표시된 사진&#10;&#10;자동 생성된 설명">
            <a:extLst>
              <a:ext uri="{FF2B5EF4-FFF2-40B4-BE49-F238E27FC236}">
                <a16:creationId xmlns:a16="http://schemas.microsoft.com/office/drawing/2014/main" id="{142DCE9B-0AB7-FE90-41FD-FC20502443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"/>
          <a:stretch/>
        </p:blipFill>
        <p:spPr>
          <a:xfrm>
            <a:off x="2686892" y="181269"/>
            <a:ext cx="5667469" cy="6676731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EFEB7C0-46F9-E5DB-5C48-F7A7EE5A96EC}"/>
              </a:ext>
            </a:extLst>
          </p:cNvPr>
          <p:cNvCxnSpPr>
            <a:cxnSpLocks/>
          </p:cNvCxnSpPr>
          <p:nvPr/>
        </p:nvCxnSpPr>
        <p:spPr>
          <a:xfrm>
            <a:off x="676405" y="1365339"/>
            <a:ext cx="17680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982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34B96-F8C1-2AA5-6BA0-5E4B7E2B2B25}"/>
              </a:ext>
            </a:extLst>
          </p:cNvPr>
          <p:cNvSpPr txBox="1"/>
          <p:nvPr/>
        </p:nvSpPr>
        <p:spPr>
          <a:xfrm>
            <a:off x="10573679" y="421063"/>
            <a:ext cx="12266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TABLE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559F62-9989-7CEA-85FF-5F3D3C567267}"/>
              </a:ext>
            </a:extLst>
          </p:cNvPr>
          <p:cNvCxnSpPr>
            <a:cxnSpLocks/>
          </p:cNvCxnSpPr>
          <p:nvPr/>
        </p:nvCxnSpPr>
        <p:spPr>
          <a:xfrm>
            <a:off x="10303005" y="944283"/>
            <a:ext cx="17680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B149EB-D579-4EF4-F466-0DA998F26D21}"/>
              </a:ext>
            </a:extLst>
          </p:cNvPr>
          <p:cNvSpPr/>
          <p:nvPr/>
        </p:nvSpPr>
        <p:spPr>
          <a:xfrm>
            <a:off x="660114" y="1017240"/>
            <a:ext cx="1992531" cy="4850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/>
              <a:t>Personal_tbl</a:t>
            </a:r>
            <a:endParaRPr lang="ko-KR" altLang="en-US" sz="20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9E8027-6EB9-2455-B903-693199194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397446"/>
              </p:ext>
            </p:extLst>
          </p:nvPr>
        </p:nvGraphicFramePr>
        <p:xfrm>
          <a:off x="660114" y="1817583"/>
          <a:ext cx="5435886" cy="4482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858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056995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765011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765011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765011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4563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>
                        <a:rPr lang="en-US" altLang="ko-KR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p_idnumber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PX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p_prescription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p_id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UQ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p_pw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p_sex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p_mobile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p_height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Int(5)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p_weight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Int(5)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p-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addressnumber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Int(10)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987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CDFB7F-17F0-6B20-BD4D-C44203983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483507"/>
              </p:ext>
            </p:extLst>
          </p:nvPr>
        </p:nvGraphicFramePr>
        <p:xfrm>
          <a:off x="6221033" y="1817584"/>
          <a:ext cx="5435886" cy="4482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857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056996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765011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765011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765011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511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>
                        <a:rPr lang="en-US" altLang="ko-KR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p_roadaddress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p_jibunaddress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p_detailaddress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p_disease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p_hospitalname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p_hospitaladdress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p_protectorname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p_protectorrelation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4894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p_protectoridnumber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p_protectormobile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98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64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34B96-F8C1-2AA5-6BA0-5E4B7E2B2B25}"/>
              </a:ext>
            </a:extLst>
          </p:cNvPr>
          <p:cNvSpPr txBox="1"/>
          <p:nvPr/>
        </p:nvSpPr>
        <p:spPr>
          <a:xfrm>
            <a:off x="10573679" y="421063"/>
            <a:ext cx="12266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TABLE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559F62-9989-7CEA-85FF-5F3D3C567267}"/>
              </a:ext>
            </a:extLst>
          </p:cNvPr>
          <p:cNvCxnSpPr>
            <a:cxnSpLocks/>
          </p:cNvCxnSpPr>
          <p:nvPr/>
        </p:nvCxnSpPr>
        <p:spPr>
          <a:xfrm>
            <a:off x="10303005" y="944283"/>
            <a:ext cx="17680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B149EB-D579-4EF4-F466-0DA998F26D21}"/>
              </a:ext>
            </a:extLst>
          </p:cNvPr>
          <p:cNvSpPr/>
          <p:nvPr/>
        </p:nvSpPr>
        <p:spPr>
          <a:xfrm>
            <a:off x="596614" y="682673"/>
            <a:ext cx="1992531" cy="4850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/>
              <a:t>Hospital_tbl</a:t>
            </a:r>
            <a:endParaRPr lang="ko-KR" altLang="en-US" sz="20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9E8027-6EB9-2455-B903-693199194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112347"/>
              </p:ext>
            </p:extLst>
          </p:nvPr>
        </p:nvGraphicFramePr>
        <p:xfrm>
          <a:off x="3242397" y="682673"/>
          <a:ext cx="6785742" cy="5840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1328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319471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954981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954981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954981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5834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>
                        <a:rPr lang="en-US" altLang="ko-KR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h_idnumber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h_id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UQ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h_pw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h_sex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h_distinguish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h_mobile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h_major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h_file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UQ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h_workingname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98748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h_workingaddress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540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35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34B96-F8C1-2AA5-6BA0-5E4B7E2B2B25}"/>
              </a:ext>
            </a:extLst>
          </p:cNvPr>
          <p:cNvSpPr txBox="1"/>
          <p:nvPr/>
        </p:nvSpPr>
        <p:spPr>
          <a:xfrm>
            <a:off x="10573679" y="421063"/>
            <a:ext cx="12266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TABLE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559F62-9989-7CEA-85FF-5F3D3C567267}"/>
              </a:ext>
            </a:extLst>
          </p:cNvPr>
          <p:cNvCxnSpPr>
            <a:cxnSpLocks/>
          </p:cNvCxnSpPr>
          <p:nvPr/>
        </p:nvCxnSpPr>
        <p:spPr>
          <a:xfrm>
            <a:off x="10303005" y="944283"/>
            <a:ext cx="17680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B149EB-D579-4EF4-F466-0DA998F26D21}"/>
              </a:ext>
            </a:extLst>
          </p:cNvPr>
          <p:cNvSpPr/>
          <p:nvPr/>
        </p:nvSpPr>
        <p:spPr>
          <a:xfrm>
            <a:off x="596614" y="682673"/>
            <a:ext cx="1992531" cy="4850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/>
              <a:t>Pharmacy_tbl</a:t>
            </a:r>
            <a:endParaRPr lang="ko-KR" altLang="en-US" sz="20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9E8027-6EB9-2455-B903-693199194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995393"/>
              </p:ext>
            </p:extLst>
          </p:nvPr>
        </p:nvGraphicFramePr>
        <p:xfrm>
          <a:off x="3092686" y="682673"/>
          <a:ext cx="6939644" cy="5740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327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349397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976640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976640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976640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6940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>
                        <a:rPr lang="en-US" altLang="ko-KR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ph_idnumber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ph_file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UQ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ph_id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UQ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ph_pw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ph_mobile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ph_sex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ph_workingname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ph_workingaddress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63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34B96-F8C1-2AA5-6BA0-5E4B7E2B2B25}"/>
              </a:ext>
            </a:extLst>
          </p:cNvPr>
          <p:cNvSpPr txBox="1"/>
          <p:nvPr/>
        </p:nvSpPr>
        <p:spPr>
          <a:xfrm>
            <a:off x="10573679" y="421063"/>
            <a:ext cx="12266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TABLE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559F62-9989-7CEA-85FF-5F3D3C567267}"/>
              </a:ext>
            </a:extLst>
          </p:cNvPr>
          <p:cNvCxnSpPr>
            <a:cxnSpLocks/>
          </p:cNvCxnSpPr>
          <p:nvPr/>
        </p:nvCxnSpPr>
        <p:spPr>
          <a:xfrm>
            <a:off x="10303005" y="944283"/>
            <a:ext cx="17680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B149EB-D579-4EF4-F466-0DA998F26D21}"/>
              </a:ext>
            </a:extLst>
          </p:cNvPr>
          <p:cNvSpPr/>
          <p:nvPr/>
        </p:nvSpPr>
        <p:spPr>
          <a:xfrm>
            <a:off x="164815" y="969668"/>
            <a:ext cx="2578386" cy="4850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/>
              <a:t>Hospital_datatbl</a:t>
            </a:r>
            <a:endParaRPr lang="ko-KR" altLang="en-US" sz="20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9E8027-6EB9-2455-B903-693199194A8E}"/>
              </a:ext>
            </a:extLst>
          </p:cNvPr>
          <p:cNvGraphicFramePr>
            <a:graphicFrameLocks noGrp="1"/>
          </p:cNvGraphicFramePr>
          <p:nvPr/>
        </p:nvGraphicFramePr>
        <p:xfrm>
          <a:off x="164815" y="1923363"/>
          <a:ext cx="5880387" cy="4223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257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143426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449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>
                        <a:rPr lang="en-US" altLang="ko-KR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post_code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tel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web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mon_s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mon_f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tue_s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tue_f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wed_s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9874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wed_f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70596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CDFB7F-17F0-6B20-BD4D-C44203983EE6}"/>
              </a:ext>
            </a:extLst>
          </p:cNvPr>
          <p:cNvGraphicFramePr>
            <a:graphicFrameLocks noGrp="1"/>
          </p:cNvGraphicFramePr>
          <p:nvPr/>
        </p:nvGraphicFramePr>
        <p:xfrm>
          <a:off x="6184614" y="1916160"/>
          <a:ext cx="5880388" cy="4240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257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143427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452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>
                        <a:rPr lang="en-US" altLang="ko-KR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thu_s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thu_f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fri_s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fri_f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sat_s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sat_f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sun_s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sun_f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holiday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park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Int(3)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9874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emer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Char(3)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046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0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34B96-F8C1-2AA5-6BA0-5E4B7E2B2B25}"/>
              </a:ext>
            </a:extLst>
          </p:cNvPr>
          <p:cNvSpPr txBox="1"/>
          <p:nvPr/>
        </p:nvSpPr>
        <p:spPr>
          <a:xfrm>
            <a:off x="10573679" y="421063"/>
            <a:ext cx="12266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TABLE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559F62-9989-7CEA-85FF-5F3D3C567267}"/>
              </a:ext>
            </a:extLst>
          </p:cNvPr>
          <p:cNvCxnSpPr>
            <a:cxnSpLocks/>
          </p:cNvCxnSpPr>
          <p:nvPr/>
        </p:nvCxnSpPr>
        <p:spPr>
          <a:xfrm>
            <a:off x="10303005" y="944283"/>
            <a:ext cx="17680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B149EB-D579-4EF4-F466-0DA998F26D21}"/>
              </a:ext>
            </a:extLst>
          </p:cNvPr>
          <p:cNvSpPr/>
          <p:nvPr/>
        </p:nvSpPr>
        <p:spPr>
          <a:xfrm>
            <a:off x="164815" y="969668"/>
            <a:ext cx="2578386" cy="4850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/>
              <a:t>Pharmacy_datatbl</a:t>
            </a:r>
            <a:endParaRPr lang="ko-KR" altLang="en-US" sz="20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9E8027-6EB9-2455-B903-693199194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700689"/>
              </p:ext>
            </p:extLst>
          </p:nvPr>
        </p:nvGraphicFramePr>
        <p:xfrm>
          <a:off x="164815" y="1923363"/>
          <a:ext cx="5880387" cy="388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257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143426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449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>
                        <a:rPr lang="en-US" altLang="ko-KR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post_code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tel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mon_s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mon_f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tue_s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tue_f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wed_s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wed_f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987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CDFB7F-17F0-6B20-BD4D-C44203983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929950"/>
              </p:ext>
            </p:extLst>
          </p:nvPr>
        </p:nvGraphicFramePr>
        <p:xfrm>
          <a:off x="6184614" y="1916160"/>
          <a:ext cx="5880388" cy="389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257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143427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452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>
                        <a:rPr lang="en-US" altLang="ko-KR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thu_s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thu_f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fri_s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fri_f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sat_s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sat_f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sun_s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sun_f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holiday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park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Int(3)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98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915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34B96-F8C1-2AA5-6BA0-5E4B7E2B2B25}"/>
              </a:ext>
            </a:extLst>
          </p:cNvPr>
          <p:cNvSpPr txBox="1"/>
          <p:nvPr/>
        </p:nvSpPr>
        <p:spPr>
          <a:xfrm>
            <a:off x="10573679" y="421063"/>
            <a:ext cx="12266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TABLE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559F62-9989-7CEA-85FF-5F3D3C567267}"/>
              </a:ext>
            </a:extLst>
          </p:cNvPr>
          <p:cNvCxnSpPr>
            <a:cxnSpLocks/>
          </p:cNvCxnSpPr>
          <p:nvPr/>
        </p:nvCxnSpPr>
        <p:spPr>
          <a:xfrm>
            <a:off x="10303005" y="944283"/>
            <a:ext cx="17680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B149EB-D579-4EF4-F466-0DA998F26D21}"/>
              </a:ext>
            </a:extLst>
          </p:cNvPr>
          <p:cNvSpPr/>
          <p:nvPr/>
        </p:nvSpPr>
        <p:spPr>
          <a:xfrm>
            <a:off x="2596171" y="1238865"/>
            <a:ext cx="1992531" cy="4850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/>
              <a:t>Review_tbl</a:t>
            </a:r>
            <a:endParaRPr lang="ko-KR" altLang="en-US" sz="20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9E8027-6EB9-2455-B903-693199194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703122"/>
              </p:ext>
            </p:extLst>
          </p:nvPr>
        </p:nvGraphicFramePr>
        <p:xfrm>
          <a:off x="2626178" y="2082529"/>
          <a:ext cx="6939644" cy="4058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327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349397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976640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976640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976640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6940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>
                        <a:rPr lang="en-US" altLang="ko-KR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Place_name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Rating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Int(1)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 dirty="0"/>
                        <a:t>NN</a:t>
                      </a:r>
                      <a:endParaRPr lang="ko-KR" altLang="en-US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92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681FD6-5D95-A4DB-0923-6B8F5BEE7607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DC377FC-ACBF-CDDF-3C3B-CA0D2951D329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A73DA0A-8F57-0E23-F69B-245D9AB0E5ED}"/>
              </a:ext>
            </a:extLst>
          </p:cNvPr>
          <p:cNvGrpSpPr/>
          <p:nvPr/>
        </p:nvGrpSpPr>
        <p:grpSpPr>
          <a:xfrm>
            <a:off x="435225" y="84008"/>
            <a:ext cx="5315981" cy="6478782"/>
            <a:chOff x="435225" y="84008"/>
            <a:chExt cx="5315981" cy="647878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BBEE58D-D31C-466D-E5F0-2CD11D2A9F3D}"/>
                </a:ext>
              </a:extLst>
            </p:cNvPr>
            <p:cNvGrpSpPr/>
            <p:nvPr/>
          </p:nvGrpSpPr>
          <p:grpSpPr>
            <a:xfrm>
              <a:off x="435225" y="159453"/>
              <a:ext cx="5305795" cy="6381044"/>
              <a:chOff x="267856" y="139829"/>
              <a:chExt cx="5305795" cy="6381044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40104385-A587-CC5F-D161-8263CD6ABE4F}"/>
                  </a:ext>
                </a:extLst>
              </p:cNvPr>
              <p:cNvGrpSpPr/>
              <p:nvPr/>
            </p:nvGrpSpPr>
            <p:grpSpPr>
              <a:xfrm>
                <a:off x="267856" y="2613931"/>
                <a:ext cx="5300702" cy="3906942"/>
                <a:chOff x="406400" y="324607"/>
                <a:chExt cx="7994650" cy="6198832"/>
              </a:xfrm>
            </p:grpSpPr>
            <p:pic>
              <p:nvPicPr>
                <p:cNvPr id="10" name="그림 9">
                  <a:extLst>
                    <a:ext uri="{FF2B5EF4-FFF2-40B4-BE49-F238E27FC236}">
                      <a16:creationId xmlns:a16="http://schemas.microsoft.com/office/drawing/2014/main" id="{C91650AC-58F6-2B40-C45A-127A6EA781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06400" y="324607"/>
                  <a:ext cx="7979285" cy="3277431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11" name="그림 10">
                  <a:extLst>
                    <a:ext uri="{FF2B5EF4-FFF2-40B4-BE49-F238E27FC236}">
                      <a16:creationId xmlns:a16="http://schemas.microsoft.com/office/drawing/2014/main" id="{F314FEBC-CA66-25D4-A876-18C5C837BF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6400" y="3602038"/>
                  <a:ext cx="7994650" cy="2921401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20F823E5-6328-42AB-705D-79824D134E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3136" y="139829"/>
                <a:ext cx="5290515" cy="2474102"/>
              </a:xfrm>
              <a:prstGeom prst="rect">
                <a:avLst/>
              </a:prstGeom>
            </p:spPr>
          </p:pic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D62087E-466F-263F-1E06-6C81E3BABCF8}"/>
                </a:ext>
              </a:extLst>
            </p:cNvPr>
            <p:cNvSpPr/>
            <p:nvPr/>
          </p:nvSpPr>
          <p:spPr>
            <a:xfrm>
              <a:off x="435225" y="84008"/>
              <a:ext cx="5315981" cy="647878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C4A68A9-124B-1CC5-BBCD-CE4F6D07B4CA}"/>
              </a:ext>
            </a:extLst>
          </p:cNvPr>
          <p:cNvSpPr txBox="1"/>
          <p:nvPr/>
        </p:nvSpPr>
        <p:spPr>
          <a:xfrm>
            <a:off x="6028526" y="1179576"/>
            <a:ext cx="3860878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메인페이지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 err="1"/>
              <a:t>메뉴바</a:t>
            </a:r>
            <a:r>
              <a:rPr lang="ko-KR" altLang="en-US" sz="1500" dirty="0"/>
              <a:t> 클릭 시 페이지 이동</a:t>
            </a:r>
            <a:endParaRPr lang="en-US" altLang="ko-KR" sz="1500" dirty="0"/>
          </a:p>
          <a:p>
            <a:r>
              <a:rPr lang="ko-KR" altLang="en-US" sz="1500" dirty="0"/>
              <a:t>로그인 아래 </a:t>
            </a:r>
            <a:r>
              <a:rPr lang="en-US" altLang="ko-KR" sz="1500" dirty="0"/>
              <a:t>JOIN</a:t>
            </a:r>
            <a:r>
              <a:rPr lang="ko-KR" altLang="en-US" sz="1500" dirty="0"/>
              <a:t>을 통해 회원가입 가능</a:t>
            </a:r>
          </a:p>
        </p:txBody>
      </p:sp>
    </p:spTree>
    <p:extLst>
      <p:ext uri="{BB962C8B-B14F-4D97-AF65-F5344CB8AC3E}">
        <p14:creationId xmlns:p14="http://schemas.microsoft.com/office/powerpoint/2010/main" val="283434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681FD6-5D95-A4DB-0923-6B8F5BEE7607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DC377FC-ACBF-CDDF-3C3B-CA0D2951D329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C4A68A9-124B-1CC5-BBCD-CE4F6D07B4CA}"/>
              </a:ext>
            </a:extLst>
          </p:cNvPr>
          <p:cNvSpPr txBox="1"/>
          <p:nvPr/>
        </p:nvSpPr>
        <p:spPr>
          <a:xfrm>
            <a:off x="361892" y="225105"/>
            <a:ext cx="386087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회원가입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회원별로 회원가입 가능 </a:t>
            </a:r>
            <a:endParaRPr lang="en-US" altLang="ko-KR" sz="1500" dirty="0"/>
          </a:p>
          <a:p>
            <a:r>
              <a:rPr lang="ko-KR" altLang="en-US" sz="1500" dirty="0"/>
              <a:t>각자 다른 </a:t>
            </a:r>
            <a:r>
              <a:rPr lang="en-US" altLang="ko-KR" sz="1500" dirty="0"/>
              <a:t>DATA TBL</a:t>
            </a:r>
            <a:r>
              <a:rPr lang="ko-KR" altLang="en-US" sz="1500" dirty="0"/>
              <a:t>에 정보 저장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A6B2DC5-BC6B-61D4-D051-AD81BFC08542}"/>
              </a:ext>
            </a:extLst>
          </p:cNvPr>
          <p:cNvGrpSpPr/>
          <p:nvPr/>
        </p:nvGrpSpPr>
        <p:grpSpPr>
          <a:xfrm>
            <a:off x="1103735" y="1284864"/>
            <a:ext cx="9984530" cy="5348021"/>
            <a:chOff x="5714960" y="1694280"/>
            <a:chExt cx="6317020" cy="376926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D01376D-C167-6FA7-24E0-36E263450FB5}"/>
                </a:ext>
              </a:extLst>
            </p:cNvPr>
            <p:cNvSpPr/>
            <p:nvPr/>
          </p:nvSpPr>
          <p:spPr>
            <a:xfrm>
              <a:off x="5714960" y="1694280"/>
              <a:ext cx="6317020" cy="37692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EFE182F2-31D0-3B06-ED76-EFC5F8C47357}"/>
                </a:ext>
              </a:extLst>
            </p:cNvPr>
            <p:cNvGrpSpPr/>
            <p:nvPr/>
          </p:nvGrpSpPr>
          <p:grpSpPr>
            <a:xfrm>
              <a:off x="5730241" y="1723183"/>
              <a:ext cx="6273112" cy="3436178"/>
              <a:chOff x="5730241" y="969060"/>
              <a:chExt cx="6273112" cy="3436178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F7E6315E-FD8F-A95E-37F0-BA0AD245359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1970" r="454"/>
              <a:stretch/>
            </p:blipFill>
            <p:spPr>
              <a:xfrm>
                <a:off x="5730241" y="969060"/>
                <a:ext cx="6273112" cy="1221186"/>
              </a:xfrm>
              <a:prstGeom prst="rect">
                <a:avLst/>
              </a:prstGeom>
            </p:spPr>
          </p:pic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A0A10BE5-E1D2-64B8-3E83-F8D64D09DF4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274" t="2901" r="3432"/>
              <a:stretch/>
            </p:blipFill>
            <p:spPr>
              <a:xfrm>
                <a:off x="5789765" y="2251207"/>
                <a:ext cx="6157678" cy="215403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3102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681FD6-5D95-A4DB-0923-6B8F5BEE7607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DC377FC-ACBF-CDDF-3C3B-CA0D2951D329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C4A68A9-124B-1CC5-BBCD-CE4F6D07B4CA}"/>
              </a:ext>
            </a:extLst>
          </p:cNvPr>
          <p:cNvSpPr txBox="1"/>
          <p:nvPr/>
        </p:nvSpPr>
        <p:spPr>
          <a:xfrm>
            <a:off x="361892" y="225105"/>
            <a:ext cx="3860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개인 회원가입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정보 입력 시 </a:t>
            </a:r>
            <a:r>
              <a:rPr lang="en-US" altLang="ko-KR" sz="1500" dirty="0"/>
              <a:t>“</a:t>
            </a:r>
            <a:r>
              <a:rPr lang="en-US" altLang="ko-KR" sz="1500" dirty="0" err="1"/>
              <a:t>personal_tbl</a:t>
            </a:r>
            <a:r>
              <a:rPr lang="en-US" altLang="ko-KR" sz="1500" dirty="0"/>
              <a:t>”</a:t>
            </a:r>
            <a:r>
              <a:rPr lang="ko-KR" altLang="en-US" sz="1500" dirty="0"/>
              <a:t>에 정보 저장</a:t>
            </a:r>
            <a:endParaRPr lang="en-US" altLang="ko-KR" sz="15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0D795A2-D69F-C694-09EA-A702E197AA25}"/>
              </a:ext>
            </a:extLst>
          </p:cNvPr>
          <p:cNvGrpSpPr/>
          <p:nvPr/>
        </p:nvGrpSpPr>
        <p:grpSpPr>
          <a:xfrm>
            <a:off x="1095455" y="1067371"/>
            <a:ext cx="9943809" cy="5492662"/>
            <a:chOff x="3038764" y="152469"/>
            <a:chExt cx="9080901" cy="664094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10597B4-0BA1-952B-59AA-49083DEF8BCD}"/>
                </a:ext>
              </a:extLst>
            </p:cNvPr>
            <p:cNvSpPr/>
            <p:nvPr/>
          </p:nvSpPr>
          <p:spPr>
            <a:xfrm>
              <a:off x="3038764" y="152469"/>
              <a:ext cx="9080901" cy="664094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A61FC1CA-3248-4A20-55D8-AAC9951D72BD}"/>
                </a:ext>
              </a:extLst>
            </p:cNvPr>
            <p:cNvGrpSpPr/>
            <p:nvPr/>
          </p:nvGrpSpPr>
          <p:grpSpPr>
            <a:xfrm>
              <a:off x="3074778" y="314548"/>
              <a:ext cx="9016225" cy="6428889"/>
              <a:chOff x="3248447" y="635053"/>
              <a:chExt cx="9081931" cy="6195494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D5A0CBB0-BAE1-9AEF-77D6-8B72A8BDFFE1}"/>
                  </a:ext>
                </a:extLst>
              </p:cNvPr>
              <p:cNvGrpSpPr/>
              <p:nvPr/>
            </p:nvGrpSpPr>
            <p:grpSpPr>
              <a:xfrm>
                <a:off x="3248447" y="1819565"/>
                <a:ext cx="9081931" cy="5010982"/>
                <a:chOff x="3248447" y="1819565"/>
                <a:chExt cx="9081931" cy="5010982"/>
              </a:xfrm>
            </p:grpSpPr>
            <p:pic>
              <p:nvPicPr>
                <p:cNvPr id="22" name="그림 21">
                  <a:extLst>
                    <a:ext uri="{FF2B5EF4-FFF2-40B4-BE49-F238E27FC236}">
                      <a16:creationId xmlns:a16="http://schemas.microsoft.com/office/drawing/2014/main" id="{A945DC5D-1CD3-E060-543B-423CC2C757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4671" r="3580" b="1861"/>
                <a:stretch/>
              </p:blipFill>
              <p:spPr>
                <a:xfrm>
                  <a:off x="3248447" y="1819565"/>
                  <a:ext cx="9081930" cy="4165598"/>
                </a:xfrm>
                <a:prstGeom prst="rect">
                  <a:avLst/>
                </a:prstGeom>
              </p:spPr>
            </p:pic>
            <p:pic>
              <p:nvPicPr>
                <p:cNvPr id="23" name="그림 22">
                  <a:extLst>
                    <a:ext uri="{FF2B5EF4-FFF2-40B4-BE49-F238E27FC236}">
                      <a16:creationId xmlns:a16="http://schemas.microsoft.com/office/drawing/2014/main" id="{F4F77F35-6D88-E33A-C434-9FCE917897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4661" r="3799" b="11498"/>
                <a:stretch/>
              </p:blipFill>
              <p:spPr>
                <a:xfrm>
                  <a:off x="3248448" y="5980784"/>
                  <a:ext cx="9081930" cy="849763"/>
                </a:xfrm>
                <a:prstGeom prst="rect">
                  <a:avLst/>
                </a:prstGeom>
              </p:spPr>
            </p:pic>
          </p:grpSp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C90D9F11-70A5-8147-61E4-10F19A1071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7595" y="635053"/>
                <a:ext cx="8246873" cy="1179990"/>
              </a:xfrm>
              <a:prstGeom prst="rect">
                <a:avLst/>
              </a:prstGeom>
            </p:spPr>
          </p:pic>
        </p:grp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F097D76-6286-69CE-86F5-8C73B8A81AC6}"/>
              </a:ext>
            </a:extLst>
          </p:cNvPr>
          <p:cNvSpPr/>
          <p:nvPr/>
        </p:nvSpPr>
        <p:spPr>
          <a:xfrm flipV="1">
            <a:off x="2687486" y="4911772"/>
            <a:ext cx="1496962" cy="446261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B4CA16B-639D-280E-48C5-59C12E50A038}"/>
              </a:ext>
            </a:extLst>
          </p:cNvPr>
          <p:cNvGrpSpPr/>
          <p:nvPr/>
        </p:nvGrpSpPr>
        <p:grpSpPr>
          <a:xfrm>
            <a:off x="4462752" y="1541727"/>
            <a:ext cx="5767058" cy="3799811"/>
            <a:chOff x="5142368" y="1448554"/>
            <a:chExt cx="5767058" cy="3799811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CA2A6F1-0D57-DE8A-C63E-B7311C451E3E}"/>
                </a:ext>
              </a:extLst>
            </p:cNvPr>
            <p:cNvSpPr/>
            <p:nvPr/>
          </p:nvSpPr>
          <p:spPr>
            <a:xfrm>
              <a:off x="5142368" y="1448554"/>
              <a:ext cx="5767058" cy="3799811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FA1FB194-CB7A-4D79-29D8-0B1D3D71A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71602" y="1498174"/>
              <a:ext cx="5712127" cy="3750191"/>
            </a:xfrm>
            <a:prstGeom prst="rect">
              <a:avLst/>
            </a:prstGeom>
          </p:spPr>
        </p:pic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ACF271E4-1B71-2D13-D722-8F2EECFEE1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066" y="1414513"/>
            <a:ext cx="11229733" cy="4524039"/>
          </a:xfrm>
          <a:prstGeom prst="rect">
            <a:avLst/>
          </a:prstGeom>
          <a:ln w="57150">
            <a:solidFill>
              <a:srgbClr val="FFC000"/>
            </a:solidFill>
          </a:ln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98F9EF-FB9A-9EAB-55A9-6FA19DEBB272}"/>
              </a:ext>
            </a:extLst>
          </p:cNvPr>
          <p:cNvSpPr/>
          <p:nvPr/>
        </p:nvSpPr>
        <p:spPr>
          <a:xfrm flipV="1">
            <a:off x="6067359" y="6114574"/>
            <a:ext cx="595370" cy="310751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254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681FD6-5D95-A4DB-0923-6B8F5BEE7607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DC377FC-ACBF-CDDF-3C3B-CA0D2951D329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2ADBD11-2598-6AC3-C197-78108D9096F3}"/>
              </a:ext>
            </a:extLst>
          </p:cNvPr>
          <p:cNvGrpSpPr/>
          <p:nvPr/>
        </p:nvGrpSpPr>
        <p:grpSpPr>
          <a:xfrm>
            <a:off x="1802237" y="1205893"/>
            <a:ext cx="9322964" cy="5163931"/>
            <a:chOff x="554212" y="2671875"/>
            <a:chExt cx="10221720" cy="5641571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4E8191-A4E7-C2D1-7620-C503462AF9D4}"/>
                </a:ext>
              </a:extLst>
            </p:cNvPr>
            <p:cNvSpPr/>
            <p:nvPr/>
          </p:nvSpPr>
          <p:spPr>
            <a:xfrm>
              <a:off x="554212" y="2671875"/>
              <a:ext cx="10221720" cy="564157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4679541-AD73-2E81-275A-4DDE5BDA94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445" r="3039"/>
            <a:stretch/>
          </p:blipFill>
          <p:spPr>
            <a:xfrm>
              <a:off x="667622" y="2786035"/>
              <a:ext cx="9994900" cy="5333207"/>
            </a:xfrm>
            <a:prstGeom prst="rect">
              <a:avLst/>
            </a:prstGeom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D27A06B2-191C-CF2B-33BF-530D9DDCD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420" y="1532656"/>
            <a:ext cx="8317361" cy="4437138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203CD12-9DFA-6C8F-9842-517E15954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024" y="1792287"/>
            <a:ext cx="4242739" cy="1738313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19D3364-B004-4E21-EB7E-B319910F27E7}"/>
              </a:ext>
            </a:extLst>
          </p:cNvPr>
          <p:cNvSpPr txBox="1"/>
          <p:nvPr/>
        </p:nvSpPr>
        <p:spPr>
          <a:xfrm>
            <a:off x="361892" y="225105"/>
            <a:ext cx="3860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병원 회원가입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정보 입력 시 </a:t>
            </a:r>
            <a:r>
              <a:rPr lang="en-US" altLang="ko-KR" sz="1500" dirty="0"/>
              <a:t>“</a:t>
            </a:r>
            <a:r>
              <a:rPr lang="en-US" altLang="ko-KR" sz="1500" dirty="0" err="1"/>
              <a:t>hospital_tbl</a:t>
            </a:r>
            <a:r>
              <a:rPr lang="en-US" altLang="ko-KR" sz="1500" dirty="0"/>
              <a:t>”</a:t>
            </a:r>
            <a:r>
              <a:rPr lang="ko-KR" altLang="en-US" sz="1500" dirty="0"/>
              <a:t>에 정보 저장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323515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1BDF859-9285-E1D2-46CE-207E1F42D84C}"/>
              </a:ext>
            </a:extLst>
          </p:cNvPr>
          <p:cNvGrpSpPr/>
          <p:nvPr/>
        </p:nvGrpSpPr>
        <p:grpSpPr>
          <a:xfrm>
            <a:off x="629679" y="520700"/>
            <a:ext cx="6000750" cy="5816600"/>
            <a:chOff x="2673350" y="190500"/>
            <a:chExt cx="7010400" cy="65278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1EE9EED-FFEC-A2B2-2895-72CBFE948711}"/>
                </a:ext>
              </a:extLst>
            </p:cNvPr>
            <p:cNvSpPr/>
            <p:nvPr/>
          </p:nvSpPr>
          <p:spPr>
            <a:xfrm>
              <a:off x="2673350" y="190500"/>
              <a:ext cx="7010400" cy="6527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78C8338-2A25-5638-D691-EACB09F5DE6E}"/>
                </a:ext>
              </a:extLst>
            </p:cNvPr>
            <p:cNvGrpSpPr/>
            <p:nvPr/>
          </p:nvGrpSpPr>
          <p:grpSpPr>
            <a:xfrm>
              <a:off x="2932526" y="404091"/>
              <a:ext cx="6586124" cy="6049818"/>
              <a:chOff x="419388" y="-448110"/>
              <a:chExt cx="8008478" cy="7591800"/>
            </a:xfrm>
          </p:grpSpPr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95E9955D-7D8F-18D2-DFD9-C76BC41F3AC0}"/>
                  </a:ext>
                </a:extLst>
              </p:cNvPr>
              <p:cNvGrpSpPr/>
              <p:nvPr/>
            </p:nvGrpSpPr>
            <p:grpSpPr>
              <a:xfrm>
                <a:off x="428625" y="-448110"/>
                <a:ext cx="7972425" cy="4896720"/>
                <a:chOff x="0" y="370605"/>
                <a:chExt cx="8667750" cy="6135116"/>
              </a:xfrm>
            </p:grpSpPr>
            <p:pic>
              <p:nvPicPr>
                <p:cNvPr id="8" name="그림 7">
                  <a:extLst>
                    <a:ext uri="{FF2B5EF4-FFF2-40B4-BE49-F238E27FC236}">
                      <a16:creationId xmlns:a16="http://schemas.microsoft.com/office/drawing/2014/main" id="{35049BEC-18C0-77CB-36F6-F4A2EB8B83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" y="370605"/>
                  <a:ext cx="8591550" cy="4243304"/>
                </a:xfrm>
                <a:prstGeom prst="rect">
                  <a:avLst/>
                </a:prstGeom>
              </p:spPr>
            </p:pic>
            <p:pic>
              <p:nvPicPr>
                <p:cNvPr id="9" name="그림 8">
                  <a:extLst>
                    <a:ext uri="{FF2B5EF4-FFF2-40B4-BE49-F238E27FC236}">
                      <a16:creationId xmlns:a16="http://schemas.microsoft.com/office/drawing/2014/main" id="{6BE7F83F-6F22-A2DB-5D80-8BA1523CA5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4225933"/>
                  <a:ext cx="8667750" cy="2279788"/>
                </a:xfrm>
                <a:prstGeom prst="rect">
                  <a:avLst/>
                </a:prstGeom>
              </p:spPr>
            </p:pic>
          </p:grpSp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87415FD0-EF70-DC41-0358-663218B03C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388" y="4433452"/>
                <a:ext cx="8008478" cy="2710238"/>
              </a:xfrm>
              <a:prstGeom prst="rect">
                <a:avLst/>
              </a:prstGeom>
            </p:spPr>
          </p:pic>
        </p:grp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9539A454-4AEC-BFB1-0284-3EEC6EB40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3096" y="2024535"/>
            <a:ext cx="3707001" cy="4174270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FFE0323-42E5-DC8C-FC45-8BD7D000B89B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93DBD2D-A380-F6A7-BBE8-73EFD477B79F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84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7846375-4F5A-6BAC-787D-97688F4ED61D}"/>
              </a:ext>
            </a:extLst>
          </p:cNvPr>
          <p:cNvGrpSpPr/>
          <p:nvPr/>
        </p:nvGrpSpPr>
        <p:grpSpPr>
          <a:xfrm>
            <a:off x="1311275" y="1205893"/>
            <a:ext cx="10271125" cy="5266103"/>
            <a:chOff x="1238250" y="431801"/>
            <a:chExt cx="10458450" cy="599439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CD0721A-7578-D411-DFBA-516C3033ED9F}"/>
                </a:ext>
              </a:extLst>
            </p:cNvPr>
            <p:cNvSpPr/>
            <p:nvPr/>
          </p:nvSpPr>
          <p:spPr>
            <a:xfrm>
              <a:off x="1238250" y="431801"/>
              <a:ext cx="10458450" cy="5994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F2FAA243-846C-0331-9E27-3A391F9AA66B}"/>
                </a:ext>
              </a:extLst>
            </p:cNvPr>
            <p:cNvGrpSpPr/>
            <p:nvPr/>
          </p:nvGrpSpPr>
          <p:grpSpPr>
            <a:xfrm>
              <a:off x="1402937" y="660400"/>
              <a:ext cx="10140122" cy="5765799"/>
              <a:chOff x="0" y="-161106"/>
              <a:chExt cx="12192000" cy="6270935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90070E37-893D-FA9D-47B6-57B01ACD02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748171"/>
                <a:ext cx="12192000" cy="5361658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E95B6B3A-E2EA-36ED-6E37-9C08B0DEB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61106"/>
                <a:ext cx="12192000" cy="909278"/>
              </a:xfrm>
              <a:prstGeom prst="rect">
                <a:avLst/>
              </a:prstGeom>
              <a:ln>
                <a:noFill/>
              </a:ln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862823F-00FD-1062-D583-792F822D516B}"/>
              </a:ext>
            </a:extLst>
          </p:cNvPr>
          <p:cNvSpPr txBox="1"/>
          <p:nvPr/>
        </p:nvSpPr>
        <p:spPr>
          <a:xfrm>
            <a:off x="361892" y="225105"/>
            <a:ext cx="3860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병원 찾기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병원 검색 시 위치와 정보가 나타남</a:t>
            </a:r>
            <a:endParaRPr lang="en-US" altLang="ko-KR" sz="15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027137-A66C-9EA5-962E-100C01E91C2A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F99863-7D75-8220-AADB-937FE21EE777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22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62823F-00FD-1062-D583-792F822D516B}"/>
              </a:ext>
            </a:extLst>
          </p:cNvPr>
          <p:cNvSpPr txBox="1"/>
          <p:nvPr/>
        </p:nvSpPr>
        <p:spPr>
          <a:xfrm>
            <a:off x="361892" y="225105"/>
            <a:ext cx="3860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약국 찾기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약국 검색 시 위치와 정보가 나타남</a:t>
            </a:r>
            <a:endParaRPr lang="en-US" altLang="ko-KR" sz="15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027137-A66C-9EA5-962E-100C01E91C2A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F99863-7D75-8220-AADB-937FE21EE777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0BC18E8-FB89-3442-E88C-EBFE44321CDD}"/>
              </a:ext>
            </a:extLst>
          </p:cNvPr>
          <p:cNvGrpSpPr/>
          <p:nvPr/>
        </p:nvGrpSpPr>
        <p:grpSpPr>
          <a:xfrm>
            <a:off x="1311275" y="1205893"/>
            <a:ext cx="10271125" cy="5266102"/>
            <a:chOff x="1311275" y="1205893"/>
            <a:chExt cx="10271125" cy="526610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CD0721A-7578-D411-DFBA-516C3033ED9F}"/>
                </a:ext>
              </a:extLst>
            </p:cNvPr>
            <p:cNvSpPr/>
            <p:nvPr/>
          </p:nvSpPr>
          <p:spPr>
            <a:xfrm>
              <a:off x="1311275" y="1205893"/>
              <a:ext cx="10271125" cy="526610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A3BE41D7-E44D-1371-AF9D-69EAA65EA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2728" y="1454426"/>
              <a:ext cx="10208217" cy="47209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274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62823F-00FD-1062-D583-792F822D516B}"/>
              </a:ext>
            </a:extLst>
          </p:cNvPr>
          <p:cNvSpPr txBox="1"/>
          <p:nvPr/>
        </p:nvSpPr>
        <p:spPr>
          <a:xfrm>
            <a:off x="361892" y="225105"/>
            <a:ext cx="6851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정보 조회 </a:t>
            </a:r>
            <a:r>
              <a:rPr lang="en-US" altLang="ko-KR" b="1" dirty="0"/>
              <a:t>/ </a:t>
            </a:r>
            <a:r>
              <a:rPr lang="ko-KR" altLang="en-US" b="1" dirty="0"/>
              <a:t>정보 업로드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환자의 정보를 조회 할 수 있으며 처방전을 업로드 및 다운로드 할 수 있다</a:t>
            </a:r>
            <a:r>
              <a:rPr lang="en-US" altLang="ko-KR" sz="1500" dirty="0"/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027137-A66C-9EA5-962E-100C01E91C2A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F99863-7D75-8220-AADB-937FE21EE777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4AB170A-6EC4-7B9F-5CD2-A9CB45FDAF24}"/>
              </a:ext>
            </a:extLst>
          </p:cNvPr>
          <p:cNvGrpSpPr/>
          <p:nvPr/>
        </p:nvGrpSpPr>
        <p:grpSpPr>
          <a:xfrm>
            <a:off x="1113103" y="1101818"/>
            <a:ext cx="10271125" cy="5266102"/>
            <a:chOff x="1113103" y="1101818"/>
            <a:chExt cx="10271125" cy="526610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D312FBB-162A-5EC4-C7DD-72299AC416FB}"/>
                </a:ext>
              </a:extLst>
            </p:cNvPr>
            <p:cNvSpPr/>
            <p:nvPr/>
          </p:nvSpPr>
          <p:spPr>
            <a:xfrm>
              <a:off x="1113103" y="1101818"/>
              <a:ext cx="10271125" cy="526610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243BFCC8-B7BE-E7AB-3A61-2B990C17E136}"/>
                </a:ext>
              </a:extLst>
            </p:cNvPr>
            <p:cNvGrpSpPr/>
            <p:nvPr/>
          </p:nvGrpSpPr>
          <p:grpSpPr>
            <a:xfrm>
              <a:off x="1277194" y="1205893"/>
              <a:ext cx="9942945" cy="5162027"/>
              <a:chOff x="-138545" y="729014"/>
              <a:chExt cx="12192000" cy="5987114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90285CAB-687D-B16A-8F1B-B0E0FF0D51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38545" y="1730528"/>
                <a:ext cx="12192000" cy="4985600"/>
              </a:xfrm>
              <a:prstGeom prst="rect">
                <a:avLst/>
              </a:prstGeom>
            </p:spPr>
          </p:pic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02440AF4-9851-A75B-1839-84C06A9FE5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38545" y="729014"/>
                <a:ext cx="12192000" cy="100382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2173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027137-A66C-9EA5-962E-100C01E91C2A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F99863-7D75-8220-AADB-937FE21EE777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E7A5C596-914A-D87B-053B-B8BA2A678FD9}"/>
              </a:ext>
            </a:extLst>
          </p:cNvPr>
          <p:cNvGrpSpPr/>
          <p:nvPr/>
        </p:nvGrpSpPr>
        <p:grpSpPr>
          <a:xfrm>
            <a:off x="960438" y="795949"/>
            <a:ext cx="10271125" cy="5266102"/>
            <a:chOff x="1113103" y="1101818"/>
            <a:chExt cx="10271125" cy="526610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D312FBB-162A-5EC4-C7DD-72299AC416FB}"/>
                </a:ext>
              </a:extLst>
            </p:cNvPr>
            <p:cNvSpPr/>
            <p:nvPr/>
          </p:nvSpPr>
          <p:spPr>
            <a:xfrm>
              <a:off x="1113103" y="1101818"/>
              <a:ext cx="10271125" cy="526610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5E056B8-2BC4-C093-2AF2-AAE5755B5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7669" y="1290580"/>
              <a:ext cx="10011831" cy="5022181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673BCA6-0155-6032-93C9-619E45CC973D}"/>
              </a:ext>
            </a:extLst>
          </p:cNvPr>
          <p:cNvGrpSpPr/>
          <p:nvPr/>
        </p:nvGrpSpPr>
        <p:grpSpPr>
          <a:xfrm>
            <a:off x="596139" y="615798"/>
            <a:ext cx="10999723" cy="5760006"/>
            <a:chOff x="748803" y="918951"/>
            <a:chExt cx="10999723" cy="5760006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A289810-AC25-D14B-29D4-BD83D80BE70B}"/>
                </a:ext>
              </a:extLst>
            </p:cNvPr>
            <p:cNvSpPr/>
            <p:nvPr/>
          </p:nvSpPr>
          <p:spPr>
            <a:xfrm>
              <a:off x="748803" y="918951"/>
              <a:ext cx="10999723" cy="576000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1582E63-593B-0A1D-101A-EC9FF73C7E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617"/>
            <a:stretch/>
          </p:blipFill>
          <p:spPr>
            <a:xfrm>
              <a:off x="807772" y="1205893"/>
              <a:ext cx="10819525" cy="49399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33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027137-A66C-9EA5-962E-100C01E91C2A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F99863-7D75-8220-AADB-937FE21EE777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C7A603CB-1D54-3F24-14CC-0DBC0C524E11}"/>
              </a:ext>
            </a:extLst>
          </p:cNvPr>
          <p:cNvGrpSpPr/>
          <p:nvPr/>
        </p:nvGrpSpPr>
        <p:grpSpPr>
          <a:xfrm>
            <a:off x="1113103" y="1101817"/>
            <a:ext cx="10271125" cy="5266102"/>
            <a:chOff x="1113103" y="1101817"/>
            <a:chExt cx="10271125" cy="526610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D312FBB-162A-5EC4-C7DD-72299AC416FB}"/>
                </a:ext>
              </a:extLst>
            </p:cNvPr>
            <p:cNvSpPr/>
            <p:nvPr/>
          </p:nvSpPr>
          <p:spPr>
            <a:xfrm>
              <a:off x="1113103" y="1101817"/>
              <a:ext cx="10271125" cy="526610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8853CBA-1823-BBC5-0243-9B744B7C4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1911" y="1365338"/>
              <a:ext cx="9863986" cy="4814945"/>
            </a:xfrm>
            <a:prstGeom prst="rect">
              <a:avLst/>
            </a:prstGeom>
          </p:spPr>
        </p:pic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C401415-AF85-35AD-6C84-47C4838B88D7}"/>
              </a:ext>
            </a:extLst>
          </p:cNvPr>
          <p:cNvSpPr/>
          <p:nvPr/>
        </p:nvSpPr>
        <p:spPr>
          <a:xfrm flipV="1">
            <a:off x="3498975" y="4440976"/>
            <a:ext cx="595370" cy="4477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2FC8010-34A2-6530-5EDA-B258625045FE}"/>
              </a:ext>
            </a:extLst>
          </p:cNvPr>
          <p:cNvGrpSpPr/>
          <p:nvPr/>
        </p:nvGrpSpPr>
        <p:grpSpPr>
          <a:xfrm>
            <a:off x="1113102" y="1101817"/>
            <a:ext cx="10271125" cy="5266102"/>
            <a:chOff x="1341911" y="1970509"/>
            <a:chExt cx="10271125" cy="526610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5F7D046-2A67-F297-AE52-93997BA4F86D}"/>
                </a:ext>
              </a:extLst>
            </p:cNvPr>
            <p:cNvSpPr/>
            <p:nvPr/>
          </p:nvSpPr>
          <p:spPr>
            <a:xfrm>
              <a:off x="1341911" y="1970509"/>
              <a:ext cx="10271125" cy="526610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60AB031-CF82-79D9-A7D3-969E0104E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1220" y="2299768"/>
              <a:ext cx="10152505" cy="4821755"/>
            </a:xfrm>
            <a:prstGeom prst="rect">
              <a:avLst/>
            </a:prstGeom>
          </p:spPr>
        </p:pic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486AA2-0FD5-5550-A438-573F335B8637}"/>
              </a:ext>
            </a:extLst>
          </p:cNvPr>
          <p:cNvSpPr/>
          <p:nvPr/>
        </p:nvSpPr>
        <p:spPr>
          <a:xfrm flipV="1">
            <a:off x="6548986" y="2148882"/>
            <a:ext cx="4301103" cy="1479152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FAB480F-B9B8-142F-3CB5-B3BCE0F4A06E}"/>
              </a:ext>
            </a:extLst>
          </p:cNvPr>
          <p:cNvGrpSpPr/>
          <p:nvPr/>
        </p:nvGrpSpPr>
        <p:grpSpPr>
          <a:xfrm>
            <a:off x="1113100" y="1101817"/>
            <a:ext cx="10271125" cy="5266102"/>
            <a:chOff x="1265502" y="1254217"/>
            <a:chExt cx="10271125" cy="5266102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9C26B14-4FA6-DA8A-2548-460DB826488C}"/>
                </a:ext>
              </a:extLst>
            </p:cNvPr>
            <p:cNvSpPr/>
            <p:nvPr/>
          </p:nvSpPr>
          <p:spPr>
            <a:xfrm>
              <a:off x="1265502" y="1254217"/>
              <a:ext cx="10271125" cy="526610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9897B8D8-2AF4-E16E-002A-702F2BB42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3929" y="1512075"/>
              <a:ext cx="9904367" cy="4725752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397ECCE-846D-E23B-182A-F71345580975}"/>
              </a:ext>
            </a:extLst>
          </p:cNvPr>
          <p:cNvSpPr txBox="1"/>
          <p:nvPr/>
        </p:nvSpPr>
        <p:spPr>
          <a:xfrm>
            <a:off x="361892" y="225105"/>
            <a:ext cx="6851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방문 후기 작성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병원 </a:t>
            </a:r>
            <a:r>
              <a:rPr lang="en-US" altLang="ko-KR" sz="1500" dirty="0"/>
              <a:t>/ </a:t>
            </a:r>
            <a:r>
              <a:rPr lang="ko-KR" altLang="en-US" sz="1500" dirty="0"/>
              <a:t>약국의 후기를 작성하거나 조회 가능하다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357133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027137-A66C-9EA5-962E-100C01E91C2A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F99863-7D75-8220-AADB-937FE21EE777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624A57CE-B719-E5E9-3BD8-27E004D0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75" y="1365339"/>
            <a:ext cx="5661025" cy="466868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288C5D4-32F0-6C01-171C-AC5CF67EF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225" y="1365338"/>
            <a:ext cx="5557550" cy="456088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D670F6F-260D-3072-5EDA-1ED608969E43}"/>
              </a:ext>
            </a:extLst>
          </p:cNvPr>
          <p:cNvSpPr/>
          <p:nvPr/>
        </p:nvSpPr>
        <p:spPr>
          <a:xfrm flipV="1">
            <a:off x="4910439" y="2607444"/>
            <a:ext cx="1133050" cy="401974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599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2C15A7-A8E8-42D9-B99C-77D9BF8F00B2}"/>
              </a:ext>
            </a:extLst>
          </p:cNvPr>
          <p:cNvSpPr txBox="1"/>
          <p:nvPr/>
        </p:nvSpPr>
        <p:spPr>
          <a:xfrm>
            <a:off x="5018761" y="3044279"/>
            <a:ext cx="24049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+mn-ea"/>
                <a:cs typeface="Cavolini" panose="020B0502040204020203" pitchFamily="66" charset="0"/>
              </a:rPr>
              <a:t>Q </a:t>
            </a:r>
            <a:r>
              <a:rPr lang="en-US" altLang="ko-KR" sz="4400" b="1" dirty="0">
                <a:latin typeface="+mn-ea"/>
                <a:cs typeface="한컴돋움" panose="02030600000101010101" pitchFamily="18" charset="2"/>
              </a:rPr>
              <a:t>&amp;</a:t>
            </a:r>
            <a:r>
              <a:rPr lang="en-US" altLang="ko-KR" sz="4400" b="1" dirty="0">
                <a:latin typeface="+mn-ea"/>
                <a:cs typeface="Cavolini" panose="020B0502040204020203" pitchFamily="66" charset="0"/>
              </a:rPr>
              <a:t> A</a:t>
            </a:r>
            <a:endParaRPr lang="ko-KR" altLang="en-US" sz="4400" b="1" dirty="0">
              <a:latin typeface="+mn-ea"/>
              <a:cs typeface="Cavolini" panose="020B0502040204020203" pitchFamily="66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22E1CC6-6459-445B-8B4C-790331BEFE55}"/>
              </a:ext>
            </a:extLst>
          </p:cNvPr>
          <p:cNvCxnSpPr>
            <a:cxnSpLocks/>
          </p:cNvCxnSpPr>
          <p:nvPr/>
        </p:nvCxnSpPr>
        <p:spPr>
          <a:xfrm>
            <a:off x="5018761" y="3883032"/>
            <a:ext cx="18413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97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2C15A7-A8E8-42D9-B99C-77D9BF8F00B2}"/>
              </a:ext>
            </a:extLst>
          </p:cNvPr>
          <p:cNvSpPr txBox="1"/>
          <p:nvPr/>
        </p:nvSpPr>
        <p:spPr>
          <a:xfrm>
            <a:off x="2079322" y="2759314"/>
            <a:ext cx="3770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+mn-ea"/>
                <a:cs typeface="Cavolini" panose="020B0502040204020203" pitchFamily="66" charset="0"/>
              </a:rPr>
              <a:t>Thank you!</a:t>
            </a:r>
            <a:endParaRPr lang="ko-KR" altLang="en-US" sz="4400" b="1" dirty="0">
              <a:latin typeface="+mn-ea"/>
              <a:cs typeface="Cavolini" panose="020B0502040204020203" pitchFamily="66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22E1CC6-6459-445B-8B4C-790331BEFE55}"/>
              </a:ext>
            </a:extLst>
          </p:cNvPr>
          <p:cNvCxnSpPr>
            <a:cxnSpLocks/>
          </p:cNvCxnSpPr>
          <p:nvPr/>
        </p:nvCxnSpPr>
        <p:spPr>
          <a:xfrm>
            <a:off x="2204581" y="3636136"/>
            <a:ext cx="33569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78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1121</Words>
  <Application>Microsoft Office PowerPoint</Application>
  <PresentationFormat>와이드스크린</PresentationFormat>
  <Paragraphs>383</Paragraphs>
  <Slides>27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나눔스퀘어 ExtraBold</vt:lpstr>
      <vt:lpstr>나눔스퀘어OTF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whfotkd1@outlook.kr</dc:creator>
  <cp:lastModifiedBy>임회연</cp:lastModifiedBy>
  <cp:revision>52</cp:revision>
  <dcterms:created xsi:type="dcterms:W3CDTF">2020-01-08T18:57:01Z</dcterms:created>
  <dcterms:modified xsi:type="dcterms:W3CDTF">2024-06-02T08:42:51Z</dcterms:modified>
</cp:coreProperties>
</file>